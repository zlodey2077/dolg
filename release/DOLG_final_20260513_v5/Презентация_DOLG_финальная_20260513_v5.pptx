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466344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12223D"/>
                </a:solidFill>
                <a:latin typeface="Arial"/>
              </a:rPr>
              <a:t>Дипломная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49834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12223D"/>
                </a:solidFill>
                <a:latin typeface="Arial"/>
              </a:rPr>
              <a:t>Разработка веб-приложения для продажи радио- и электронных компонентов со встроенными инструментами проектирования и симуляции схем.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983480"/>
            <a:ext cx="489204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4E607C"/>
                </a:solidFill>
                <a:latin typeface="Arial"/>
              </a:rPr>
              <a:t>Автор: Буряко Дмитрий Сергеевич
Научный руководитель: Буланов Сергей Георгиевич
Год защиты: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685800"/>
            <a:ext cx="57150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talog_card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4" y="740664"/>
            <a:ext cx="5605272" cy="5102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863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223D"/>
                </a:solidFill>
                <a:latin typeface="Arial"/>
              </a:rPr>
              <a:t>Актуальность и 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4E607C"/>
                </a:solidFill>
                <a:latin typeface="Arial"/>
              </a:rPr>
              <a:t>Рынок, ограничения существующих инструментов и цель ВКР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383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50" b="0" i="0">
                <a:solidFill>
                  <a:srgbClr val="4E607C"/>
                </a:solidFill>
                <a:latin typeface="Arial"/>
              </a:rPr>
              <a:t>DOLG · дипломная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7772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 i="0">
                <a:solidFill>
                  <a:srgbClr val="4E607C"/>
                </a:solidFill>
                <a:latin typeface="Arial"/>
              </a:rPr>
              <a:t>2/12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2461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4864" cy="3154680"/>
          </a:xfrm>
          <a:prstGeom prst="rect">
            <a:avLst/>
          </a:prstGeom>
          <a:solidFill>
            <a:srgbClr val="2F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63624"/>
            <a:ext cx="286207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12223D"/>
                </a:solidFill>
                <a:latin typeface="Arial"/>
              </a:rPr>
              <a:t>Рынок и EDA-среда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65960"/>
            <a:ext cx="2862072" cy="2532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4E607C"/>
                </a:solidFill>
                <a:latin typeface="Arial"/>
              </a:rPr>
              <a:t>Рост спроса на электронные компоненты и инструменты проектирования усиливает потребность в веб-сервисах, где подбор, расчёт и документация находятся в одном рабочем маршруте.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2461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417320"/>
            <a:ext cx="54864" cy="3154680"/>
          </a:xfrm>
          <a:prstGeom prst="rect">
            <a:avLst/>
          </a:prstGeom>
          <a:solidFill>
            <a:srgbClr val="EC5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563624"/>
            <a:ext cx="286207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12223D"/>
                </a:solidFill>
                <a:latin typeface="Arial"/>
              </a:rPr>
              <a:t>Практический разрыв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1965960"/>
            <a:ext cx="2862072" cy="2532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4E607C"/>
                </a:solidFill>
                <a:latin typeface="Arial"/>
              </a:rPr>
              <a:t>Каталог, CAD и SPICE-среда часто используются отдельно. Номиналы, спецификации, BOM и результаты расчётов переносятся между системами вручную.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2461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54864" cy="3154680"/>
          </a:xfrm>
          <a:prstGeom prst="rect">
            <a:avLst/>
          </a:prstGeom>
          <a:solidFill>
            <a:srgbClr val="1FB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563624"/>
            <a:ext cx="286207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12223D"/>
                </a:solidFill>
                <a:latin typeface="Arial"/>
              </a:rPr>
              <a:t>Цель работы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965960"/>
            <a:ext cx="2862072" cy="2532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4E607C"/>
                </a:solidFill>
                <a:latin typeface="Arial"/>
              </a:rPr>
              <a:t>Разработать веб-приложение для подбора, приобретения радио- и электронных компонентов, полного проектирования и симуляции электронной схемы в онлайн-режиме.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5074920"/>
            <a:ext cx="20116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5148072"/>
            <a:ext cx="186537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реализовано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5303520"/>
            <a:ext cx="186537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F6FE1"/>
                </a:solidFill>
                <a:latin typeface="Arial"/>
              </a:rPr>
              <a:t>каталог + заказ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5074920"/>
            <a:ext cx="20116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9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5148072"/>
            <a:ext cx="186537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реализовано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5303520"/>
            <a:ext cx="186537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009DB5"/>
                </a:solidFill>
                <a:latin typeface="Arial"/>
              </a:rPr>
              <a:t>CAD/SIM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074920"/>
            <a:ext cx="20116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B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5148072"/>
            <a:ext cx="186537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добавлено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303520"/>
            <a:ext cx="186537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B270"/>
                </a:solidFill>
                <a:latin typeface="Arial"/>
              </a:rPr>
              <a:t>лаборатория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5074920"/>
            <a:ext cx="20116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34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5672" y="5148072"/>
            <a:ext cx="186537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добавлено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5303520"/>
            <a:ext cx="186537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734BE6"/>
                </a:solidFill>
                <a:latin typeface="Arial"/>
              </a:rPr>
              <a:t>обучение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863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223D"/>
                </a:solidFill>
                <a:latin typeface="Arial"/>
              </a:rPr>
              <a:t>Анализ решений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4E607C"/>
                </a:solidFill>
                <a:latin typeface="Arial"/>
              </a:rPr>
              <a:t>Позиционирование проекта относительно магазинов, онлайн-симуляторов и CAD-систем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383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50" b="0" i="0">
                <a:solidFill>
                  <a:srgbClr val="4E607C"/>
                </a:solidFill>
                <a:latin typeface="Arial"/>
              </a:rPr>
              <a:t>DOLG · дипломная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7772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 i="0">
                <a:solidFill>
                  <a:srgbClr val="4E607C"/>
                </a:solidFill>
                <a:latin typeface="Arial"/>
              </a:rPr>
              <a:t>3/12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110185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/>
                <a:gridCol w="2754630"/>
                <a:gridCol w="2754630"/>
                <a:gridCol w="2754630"/>
              </a:tblGrid>
              <a:tr h="704088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12223D"/>
                          </a:solidFill>
                          <a:latin typeface="Arial"/>
                        </a:rPr>
                        <a:t>Класс решений</a:t>
                      </a:r>
                    </a:p>
                  </a:txBody>
                  <a:tcPr marL="45720" marR="45720" marT="36576" marB="36576">
                    <a:solidFill>
                      <a:srgbClr val="E2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12223D"/>
                          </a:solidFill>
                          <a:latin typeface="Arial"/>
                        </a:rPr>
                        <a:t>Сильная сторона</a:t>
                      </a:r>
                    </a:p>
                  </a:txBody>
                  <a:tcPr marL="45720" marR="45720" marT="36576" marB="36576">
                    <a:solidFill>
                      <a:srgbClr val="E2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12223D"/>
                          </a:solidFill>
                          <a:latin typeface="Arial"/>
                        </a:rPr>
                        <a:t>Ограничение</a:t>
                      </a:r>
                    </a:p>
                  </a:txBody>
                  <a:tcPr marL="45720" marR="45720" marT="36576" marB="36576">
                    <a:solidFill>
                      <a:srgbClr val="E2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12223D"/>
                          </a:solidFill>
                          <a:latin typeface="Arial"/>
                        </a:rPr>
                        <a:t>Как закрывает DOLG</a:t>
                      </a:r>
                    </a:p>
                  </a:txBody>
                  <a:tcPr marL="45720" marR="45720" marT="36576" marB="36576">
                    <a:solidFill>
                      <a:srgbClr val="E2F9FC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Интернет-магазины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каталог, цена, наличие, заказ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нет проверки схемы и инженерного расчёта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товар связан с документацией, BOM и заказом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Онлайн-симуляторы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быстрые учебные эксперименты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абстрактные элементы без рыночной позиции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схема работает рядом с каталогом компонентов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CAD/EDA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профессиональная разработка схем и плат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высокий порог входа и отдельный контур закупки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упрощённый веб-маршрут для учебных и практических задач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DOLG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каталог, знания, CAD, симуляция, лаборатория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демонстрационный масштаб проекта ВКР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единый маршрут: компонент -&gt; схема -&gt; расчёт -&gt; заказ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097280" y="4956048"/>
            <a:ext cx="10012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4956048"/>
            <a:ext cx="54864" cy="914400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07592" y="5102352"/>
            <a:ext cx="962863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1" i="0">
                <a:solidFill>
                  <a:srgbClr val="12223D"/>
                </a:solidFill>
                <a:latin typeface="Arial"/>
              </a:rPr>
              <a:t>Практическая ниша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5504688"/>
            <a:ext cx="9628632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19" b="0" i="0">
                <a:solidFill>
                  <a:srgbClr val="4E607C"/>
                </a:solidFill>
                <a:latin typeface="Arial"/>
              </a:rPr>
              <a:t>Учебно-практический веб-сервис для работы с электронным компонентом: от поиска и анализа параметров до проверки поведения схемы и формирования заказа.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863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223D"/>
                </a:solidFill>
                <a:latin typeface="Arial"/>
              </a:rPr>
              <a:t>Целевая аудитория и сценарии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4E607C"/>
                </a:solidFill>
                <a:latin typeface="Arial"/>
              </a:rPr>
              <a:t>Основные группы пользователей и рабочий маршрут внутри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383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50" b="0" i="0">
                <a:solidFill>
                  <a:srgbClr val="4E607C"/>
                </a:solidFill>
                <a:latin typeface="Arial"/>
              </a:rPr>
              <a:t>DOLG · дипломная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7772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 i="0">
                <a:solidFill>
                  <a:srgbClr val="4E607C"/>
                </a:solidFill>
                <a:latin typeface="Arial"/>
              </a:rPr>
              <a:t>4/12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4297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54864" cy="1024128"/>
          </a:xfrm>
          <a:prstGeom prst="rect">
            <a:avLst/>
          </a:prstGeom>
          <a:solidFill>
            <a:srgbClr val="2F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289304"/>
            <a:ext cx="391363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Студенты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691640"/>
            <a:ext cx="3913632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80" b="0" i="0">
                <a:solidFill>
                  <a:srgbClr val="4E607C"/>
                </a:solidFill>
                <a:latin typeface="Arial"/>
              </a:rPr>
              <a:t>изучают схемотехнику через расчёты, готовые схемы и лабораторные задания.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31720"/>
            <a:ext cx="4297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331720"/>
            <a:ext cx="54864" cy="1024128"/>
          </a:xfrm>
          <a:prstGeom prst="rect">
            <a:avLst/>
          </a:prstGeom>
          <a:solidFill>
            <a:srgbClr val="1FB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478024"/>
            <a:ext cx="391363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Радиолюбители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880360"/>
            <a:ext cx="3913632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80" b="0" i="0">
                <a:solidFill>
                  <a:srgbClr val="4E607C"/>
                </a:solidFill>
                <a:latin typeface="Arial"/>
              </a:rPr>
              <a:t>подбирают компоненты, проверяют идею и собирают список деталей для покупки.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4297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20440"/>
            <a:ext cx="54864" cy="1024128"/>
          </a:xfrm>
          <a:prstGeom prst="rect">
            <a:avLst/>
          </a:prstGeom>
          <a:solidFill>
            <a:srgbClr val="EC5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666744"/>
            <a:ext cx="391363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Инженеры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069080"/>
            <a:ext cx="3913632" cy="4023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80" b="0" i="0">
                <a:solidFill>
                  <a:srgbClr val="4E607C"/>
                </a:solidFill>
                <a:latin typeface="Arial"/>
              </a:rPr>
              <a:t>сравнивают номиналы, оценивают тепловой запас и сохраняют проверенные решения.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1143000"/>
            <a:ext cx="54406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1389888"/>
            <a:ext cx="4800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 i="0">
                <a:solidFill>
                  <a:srgbClr val="12223D"/>
                </a:solidFill>
                <a:latin typeface="Arial"/>
              </a:rPr>
              <a:t>Типовой пользовательский маршрут</a:t>
            </a:r>
          </a:p>
        </p:txBody>
      </p:sp>
      <p:sp>
        <p:nvSpPr>
          <p:cNvPr id="22" name="Oval 21"/>
          <p:cNvSpPr/>
          <p:nvPr/>
        </p:nvSpPr>
        <p:spPr>
          <a:xfrm>
            <a:off x="5897880" y="1874519"/>
            <a:ext cx="164592" cy="164592"/>
          </a:xfrm>
          <a:prstGeom prst="ellipse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837943"/>
            <a:ext cx="4297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12223D"/>
                </a:solidFill>
                <a:latin typeface="Arial"/>
              </a:rPr>
              <a:t>1. Найти компонент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0176" y="2039111"/>
            <a:ext cx="0" cy="228600"/>
          </a:xfrm>
          <a:prstGeom prst="line">
            <a:avLst/>
          </a:prstGeom>
          <a:ln w="25400">
            <a:solidFill>
              <a:srgbClr val="009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897880" y="2313432"/>
            <a:ext cx="164592" cy="164592"/>
          </a:xfrm>
          <a:prstGeom prst="ellipse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2276856"/>
            <a:ext cx="4297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4E607C"/>
                </a:solidFill>
                <a:latin typeface="Arial"/>
              </a:rPr>
              <a:t>2. Открыть карточку и документацию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80176" y="2478024"/>
            <a:ext cx="0" cy="228600"/>
          </a:xfrm>
          <a:prstGeom prst="line">
            <a:avLst/>
          </a:prstGeom>
          <a:ln w="25400">
            <a:solidFill>
              <a:srgbClr val="009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897880" y="2752344"/>
            <a:ext cx="164592" cy="164592"/>
          </a:xfrm>
          <a:prstGeom prst="ellipse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2715768"/>
            <a:ext cx="4297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12223D"/>
                </a:solidFill>
                <a:latin typeface="Arial"/>
              </a:rPr>
              <a:t>3. Проверить расчёт в лаборатории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80176" y="2916936"/>
            <a:ext cx="0" cy="228600"/>
          </a:xfrm>
          <a:prstGeom prst="line">
            <a:avLst/>
          </a:prstGeom>
          <a:ln w="25400">
            <a:solidFill>
              <a:srgbClr val="009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897880" y="3191256"/>
            <a:ext cx="164592" cy="164592"/>
          </a:xfrm>
          <a:prstGeom prst="ellipse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3154680"/>
            <a:ext cx="4297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4E607C"/>
                </a:solidFill>
                <a:latin typeface="Arial"/>
              </a:rPr>
              <a:t>4. Собрать схему и запустить симуляцию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80176" y="3355848"/>
            <a:ext cx="0" cy="228600"/>
          </a:xfrm>
          <a:prstGeom prst="line">
            <a:avLst/>
          </a:prstGeom>
          <a:ln w="25400">
            <a:solidFill>
              <a:srgbClr val="009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897880" y="3630168"/>
            <a:ext cx="164592" cy="164592"/>
          </a:xfrm>
          <a:prstGeom prst="ellipse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3593592"/>
            <a:ext cx="42976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4E607C"/>
                </a:solidFill>
                <a:latin typeface="Arial"/>
              </a:rPr>
              <a:t>5. Сформировать BOM и заказ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983480"/>
            <a:ext cx="13258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5056632"/>
            <a:ext cx="117957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товаров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" y="5212080"/>
            <a:ext cx="117957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F6FE1"/>
                </a:solidFill>
                <a:latin typeface="Arial"/>
              </a:rPr>
              <a:t>89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06039" y="4983480"/>
            <a:ext cx="13258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9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79191" y="5056632"/>
            <a:ext cx="117957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РЭБ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79191" y="5212080"/>
            <a:ext cx="117957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009DB5"/>
                </a:solidFill>
                <a:latin typeface="Arial"/>
              </a:rPr>
              <a:t>43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4983480"/>
            <a:ext cx="13258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B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5056632"/>
            <a:ext cx="117957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статья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6552" y="5212080"/>
            <a:ext cx="117957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B270"/>
                </a:solidFill>
                <a:latin typeface="Arial"/>
              </a:rPr>
              <a:t>21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59" y="4983480"/>
            <a:ext cx="13258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C57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53911" y="5056632"/>
            <a:ext cx="117957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материалов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3911" y="5212080"/>
            <a:ext cx="117957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EC5719"/>
                </a:solidFill>
                <a:latin typeface="Arial"/>
              </a:rPr>
              <a:t>50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18119" y="4983480"/>
            <a:ext cx="13258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34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91271" y="5056632"/>
            <a:ext cx="117957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уроков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91271" y="5212080"/>
            <a:ext cx="117957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734BE6"/>
                </a:solidFill>
                <a:latin typeface="Arial"/>
              </a:rPr>
              <a:t>10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55480" y="4983480"/>
            <a:ext cx="1325880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28632" y="5056632"/>
            <a:ext cx="117957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задания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28632" y="5212080"/>
            <a:ext cx="1179576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DC3037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863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223D"/>
                </a:solidFill>
                <a:latin typeface="Arial"/>
              </a:rP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4E607C"/>
                </a:solidFill>
                <a:latin typeface="Arial"/>
              </a:rPr>
              <a:t>Фактическая структура Django-проекта, сервисного слоя и клиентских модулей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383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50" b="0" i="0">
                <a:solidFill>
                  <a:srgbClr val="4E607C"/>
                </a:solidFill>
                <a:latin typeface="Arial"/>
              </a:rPr>
              <a:t>DOLG · дипломная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7772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 i="0">
                <a:solidFill>
                  <a:srgbClr val="4E607C"/>
                </a:solidFill>
                <a:latin typeface="Arial"/>
              </a:rPr>
              <a:t>5/12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2514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54864" cy="4251960"/>
          </a:xfrm>
          <a:prstGeom prst="rect">
            <a:avLst/>
          </a:prstGeom>
          <a:solidFill>
            <a:srgbClr val="2F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9304"/>
            <a:ext cx="21305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Django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691640"/>
            <a:ext cx="2130552" cy="3630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19" b="0" i="0">
                <a:solidFill>
                  <a:srgbClr val="4E607C"/>
                </a:solidFill>
                <a:latin typeface="Arial"/>
              </a:rPr>
              <a:t>shop — каталог, поиск, сравнение, BOM
accounts — регистрация, профиль
orders — корзина и заказы
knowledge — энциклопедия, обучение, лаборатория
Dolg_APP — CAD, симуляция, проекты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143000"/>
            <a:ext cx="2514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143000"/>
            <a:ext cx="54864" cy="4251960"/>
          </a:xfrm>
          <a:prstGeom prst="rect">
            <a:avLst/>
          </a:prstGeom>
          <a:solidFill>
            <a:srgbClr val="1FB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289304"/>
            <a:ext cx="21305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Service-layer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691640"/>
            <a:ext cx="2130552" cy="3630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19" b="0" i="0">
                <a:solidFill>
                  <a:srgbClr val="4E607C"/>
                </a:solidFill>
                <a:latin typeface="Arial"/>
              </a:rPr>
              <a:t>engineering_lab.py — расчёты и оценка
learning_grader.py — автопроверка задач
schematic_validation.py — DRC/проверка схем
bom_match — подбор позиций каталога
check_demo_ready — контроль демо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143000"/>
            <a:ext cx="2514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143000"/>
            <a:ext cx="54864" cy="4251960"/>
          </a:xfrm>
          <a:prstGeom prst="rect">
            <a:avLst/>
          </a:prstGeom>
          <a:solidFill>
            <a:srgbClr val="EC5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289304"/>
            <a:ext cx="21305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Client/UI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691640"/>
            <a:ext cx="2130552" cy="3630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19" b="0" i="0">
                <a:solidFill>
                  <a:srgbClr val="4E607C"/>
                </a:solidFill>
                <a:latin typeface="Arial"/>
              </a:rPr>
              <a:t>единые карточки товара
Canvas2D CAD с УГО и ГОСТ-шаблонами
ngspice.wasm + JS-MNA fallback
инженерная лаборатория
практикум обучения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143000"/>
            <a:ext cx="2514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143000"/>
            <a:ext cx="54864" cy="4251960"/>
          </a:xfrm>
          <a:prstGeom prst="rect">
            <a:avLst/>
          </a:prstGeom>
          <a:solidFill>
            <a:srgbClr val="734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1289304"/>
            <a:ext cx="21305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Data &amp;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1691640"/>
            <a:ext cx="2130552" cy="3630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19" b="0" i="0">
                <a:solidFill>
                  <a:srgbClr val="4E607C"/>
                </a:solidFill>
                <a:latin typeface="Arial"/>
              </a:rPr>
              <a:t>SQLite для demo/dev
JSONField для параметров компонентов
media: фото, gif, видео, файлы
146 тестов, 6 skipped
demo-ready URL smoke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35808" y="3246120"/>
            <a:ext cx="256032" cy="0"/>
          </a:xfrm>
          <a:prstGeom prst="line">
            <a:avLst/>
          </a:prstGeom>
          <a:ln w="25400">
            <a:solidFill>
              <a:srgbClr val="009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70448" y="3246120"/>
            <a:ext cx="256032" cy="0"/>
          </a:xfrm>
          <a:prstGeom prst="line">
            <a:avLst/>
          </a:prstGeom>
          <a:ln w="25400">
            <a:solidFill>
              <a:srgbClr val="009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05088" y="3246120"/>
            <a:ext cx="256032" cy="0"/>
          </a:xfrm>
          <a:prstGeom prst="line">
            <a:avLst/>
          </a:prstGeom>
          <a:ln w="25400">
            <a:solidFill>
              <a:srgbClr val="009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43000" y="5623560"/>
            <a:ext cx="9966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20" b="0" i="0">
                <a:solidFill>
                  <a:srgbClr val="4E607C"/>
                </a:solidFill>
                <a:latin typeface="Arial"/>
              </a:rPr>
              <a:t>Архитектура разделяет торговую, учебную и инженерную части, а общие расчёты вынесены из шаблонов в переиспользуемые сервисы.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863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223D"/>
                </a:solidFill>
                <a:latin typeface="Arial"/>
              </a:rPr>
              <a:t>Ключевые фрагменты кода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4E607C"/>
                </a:solidFill>
                <a:latin typeface="Arial"/>
              </a:rPr>
              <a:t>Фрагменты, которые связывают лабораторию, обучение, проверку схем и demo-ready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383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50" b="0" i="0">
                <a:solidFill>
                  <a:srgbClr val="4E607C"/>
                </a:solidFill>
                <a:latin typeface="Arial"/>
              </a:rPr>
              <a:t>DOLG · дипломная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7772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 i="0">
                <a:solidFill>
                  <a:srgbClr val="4E607C"/>
                </a:solidFill>
                <a:latin typeface="Arial"/>
              </a:rPr>
              <a:t>6/12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2743200" cy="2057400"/>
          </a:xfrm>
          <a:prstGeom prst="roundRect">
            <a:avLst/>
          </a:prstGeom>
          <a:solidFill>
            <a:srgbClr val="0F1D32"/>
          </a:solidFill>
          <a:ln w="13970">
            <a:solidFill>
              <a:srgbClr val="2F6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52728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B5E8FF"/>
                </a:solidFill>
                <a:latin typeface="Arial"/>
              </a:rPr>
              <a:t>Расчётная лаборатория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2468880" cy="1527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750">
                <a:solidFill>
                  <a:srgbClr val="E5F1FF"/>
                </a:solidFill>
                <a:latin typeface="Consolas"/>
              </a:rPr>
              <a:t>def calculate_lab(kind, payload):
    calculators = {
        'transistor_switch': _transistor_switch,
        'ne555_astable': _ne555_astable,
        'linear_regulator': _linear_regulator,
    }
    result = calculators[kind](payload or {})
    return _with_feedback(result)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143000"/>
            <a:ext cx="2743200" cy="2057400"/>
          </a:xfrm>
          <a:prstGeom prst="roundRect">
            <a:avLst/>
          </a:prstGeom>
          <a:solidFill>
            <a:srgbClr val="0F1D32"/>
          </a:solidFill>
          <a:ln w="13970">
            <a:solidFill>
              <a:srgbClr val="1FB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252728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B5E8FF"/>
                </a:solidFill>
                <a:latin typeface="Arial"/>
              </a:rPr>
              <a:t>Обучение использует те же метрики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581912"/>
            <a:ext cx="2468880" cy="1527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750">
                <a:solidFill>
                  <a:srgbClr val="E5F1FF"/>
                </a:solidFill>
                <a:latin typeface="Consolas"/>
              </a:rPr>
              <a:t>def grade_simulation_task(task, scheme_data, result):
    rubric = task.rubric or {}
    metric = rubric.get('metric')
    value = extract_measurement(result, metric, rubric)
    return evaluate_measurement(metric, value, rubric)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143000"/>
            <a:ext cx="2743200" cy="2057400"/>
          </a:xfrm>
          <a:prstGeom prst="roundRect">
            <a:avLst/>
          </a:prstGeom>
          <a:solidFill>
            <a:srgbClr val="0F1D32"/>
          </a:solidFill>
          <a:ln w="13970">
            <a:solidFill>
              <a:srgbClr val="EC57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252728"/>
            <a:ext cx="2468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B5E8FF"/>
                </a:solidFill>
                <a:latin typeface="Arial"/>
              </a:rPr>
              <a:t>DRC схемы как сервис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581912"/>
            <a:ext cx="2468880" cy="1527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750">
                <a:solidFill>
                  <a:srgbClr val="E5F1FF"/>
                </a:solidFill>
                <a:latin typeface="Consolas"/>
              </a:rPr>
              <a:t>def validate_scheme_data(scheme_data):
    components = _components(scheme_data)
    errors, warnings = [], []
    if not _has_ground(components):
        errors.append('нет GND')
    return {'errors': errors, 'warnings': warnings,
            'metrics': metrics}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5168" y="1143000"/>
            <a:ext cx="2331720" cy="2057400"/>
          </a:xfrm>
          <a:prstGeom prst="roundRect">
            <a:avLst/>
          </a:prstGeom>
          <a:solidFill>
            <a:srgbClr val="0F1D32"/>
          </a:solidFill>
          <a:ln w="13970">
            <a:solidFill>
              <a:srgbClr val="734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1252728"/>
            <a:ext cx="20574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B5E8FF"/>
                </a:solidFill>
                <a:latin typeface="Arial"/>
              </a:rPr>
              <a:t>Demo-ready контроль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1581912"/>
            <a:ext cx="2057400" cy="1527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750">
                <a:solidFill>
                  <a:srgbClr val="E5F1FF"/>
                </a:solidFill>
                <a:latin typeface="Consolas"/>
              </a:rPr>
              <a:t>minimums = {
  'products': 80,
  'learning_tracks': 2,
  'learning_lessons': 10,
  'learning_tasks': 22,
}
smoke_urls += ['/knowledge/lab/']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703320"/>
            <a:ext cx="4983480" cy="1691640"/>
          </a:xfrm>
          <a:prstGeom prst="roundRect">
            <a:avLst/>
          </a:prstGeom>
          <a:solidFill>
            <a:srgbClr val="0F1D32"/>
          </a:solidFill>
          <a:ln w="13970">
            <a:solidFill>
              <a:srgbClr val="009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813048"/>
            <a:ext cx="470916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B5E8FF"/>
                </a:solidFill>
                <a:latin typeface="Arial"/>
              </a:rPr>
              <a:t>Переиспользование формул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42232"/>
            <a:ext cx="4709160" cy="11612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750">
                <a:solidFill>
                  <a:srgbClr val="E5F1FF"/>
                </a:solidFill>
                <a:latin typeface="Consolas"/>
              </a:rPr>
              <a:t>def lab_expected_value(config):
    result = calculate_lab(config['kind'], config['inputs'])
    metric = config['metric']
    return result['outputs'][metric]['value']
# одно место для лаборатории и практикума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703320"/>
            <a:ext cx="4572000" cy="1691640"/>
          </a:xfrm>
          <a:prstGeom prst="roundRect">
            <a:avLst/>
          </a:prstGeom>
          <a:solidFill>
            <a:srgbClr val="0F1D32"/>
          </a:solidFill>
          <a:ln w="13970">
            <a:solidFill>
              <a:srgbClr val="DC3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813048"/>
            <a:ext cx="4297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B5E8FF"/>
                </a:solidFill>
                <a:latin typeface="Arial"/>
              </a:rPr>
              <a:t>Проверка схемного задания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42232"/>
            <a:ext cx="4297680" cy="11612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750">
                <a:solidFill>
                  <a:srgbClr val="E5F1FF"/>
                </a:solidFill>
                <a:latin typeface="Consolas"/>
              </a:rPr>
              <a:t>required_types = rubric.get('required_component_types', [])
nominals = rubric.get('required_nominal_ranges', [])
connections = _connection_graph(scheme_data)
# feedback возвращается в LearningAttempt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863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223D"/>
                </a:solidFill>
                <a:latin typeface="Arial"/>
              </a:rPr>
              <a:t>Реализованные модули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4E607C"/>
                </a:solidFill>
                <a:latin typeface="Arial"/>
              </a:rPr>
              <a:t>Функции продукта и свойства данных, которые поддерживают пользовательский маршрут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383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50" b="0" i="0">
                <a:solidFill>
                  <a:srgbClr val="4E607C"/>
                </a:solidFill>
                <a:latin typeface="Arial"/>
              </a:rPr>
              <a:t>DOLG · дипломная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7772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 i="0">
                <a:solidFill>
                  <a:srgbClr val="4E607C"/>
                </a:solidFill>
                <a:latin typeface="Arial"/>
              </a:rPr>
              <a:t>7/12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15568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15568"/>
            <a:ext cx="54864" cy="1261872"/>
          </a:xfrm>
          <a:prstGeom prst="rect">
            <a:avLst/>
          </a:prstGeom>
          <a:solidFill>
            <a:srgbClr val="2F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61872"/>
            <a:ext cx="295351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Каталог и подбор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664208"/>
            <a:ext cx="295351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19" b="0" i="0">
                <a:solidFill>
                  <a:srgbClr val="4E607C"/>
                </a:solidFill>
                <a:latin typeface="Arial"/>
              </a:rPr>
              <a:t>поиск, фильтры по параметрам, наличие, производитель, lifecycle; единое представление компонента в разных местах интерфейса.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115568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115568"/>
            <a:ext cx="54864" cy="1261872"/>
          </a:xfrm>
          <a:prstGeom prst="rect">
            <a:avLst/>
          </a:prstGeom>
          <a:solidFill>
            <a:srgbClr val="1FB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261872"/>
            <a:ext cx="295351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Корзина и заказ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664208"/>
            <a:ext cx="295351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19" b="0" i="0">
                <a:solidFill>
                  <a:srgbClr val="4E607C"/>
                </a:solidFill>
                <a:latin typeface="Arial"/>
              </a:rPr>
              <a:t>BOM из схемы может перейти в корзину; поддержаны оформление, повтор заказа и проверка остатков.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115568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115568"/>
            <a:ext cx="54864" cy="1261872"/>
          </a:xfrm>
          <a:prstGeom prst="rect">
            <a:avLst/>
          </a:prstGeom>
          <a:solidFill>
            <a:srgbClr val="EC5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261872"/>
            <a:ext cx="295351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Энциклопедия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664208"/>
            <a:ext cx="295351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19" b="0" i="0">
                <a:solidFill>
                  <a:srgbClr val="4E607C"/>
                </a:solidFill>
                <a:latin typeface="Arial"/>
              </a:rPr>
              <a:t>21 статья и 50 материалов: внутренние ссылки, изображения, видео, файлы и связанные товары.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944368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2944368"/>
            <a:ext cx="54864" cy="1261872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090672"/>
            <a:ext cx="295351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Инженерная лаборатория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493008"/>
            <a:ext cx="295351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19" b="0" i="0">
                <a:solidFill>
                  <a:srgbClr val="4E607C"/>
                </a:solidFill>
                <a:latin typeface="Arial"/>
              </a:rPr>
              <a:t>расчёты транзисторного ключа, NE555, стабилизатора, RC-антидребезга и теплового запаса.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2944368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2944368"/>
            <a:ext cx="54864" cy="1261872"/>
          </a:xfrm>
          <a:prstGeom prst="rect">
            <a:avLst/>
          </a:prstGeom>
          <a:solidFill>
            <a:srgbClr val="734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3090672"/>
            <a:ext cx="295351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Практикум обучения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493008"/>
            <a:ext cx="295351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19" b="0" i="0">
                <a:solidFill>
                  <a:srgbClr val="4E607C"/>
                </a:solidFill>
                <a:latin typeface="Arial"/>
              </a:rPr>
              <a:t>2 маршрута, 10 уроков, 23 задания: численные ответы, сборка схемы и измерение результата.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2944368"/>
            <a:ext cx="33375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2944368"/>
            <a:ext cx="54864" cy="1261872"/>
          </a:xfrm>
          <a:prstGeom prst="rect">
            <a:avLst/>
          </a:prstGeom>
          <a:solidFill>
            <a:srgbClr val="DC3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5632" y="3090672"/>
            <a:ext cx="295351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1" i="0">
                <a:solidFill>
                  <a:srgbClr val="12223D"/>
                </a:solidFill>
                <a:latin typeface="Arial"/>
              </a:rPr>
              <a:t>Проекты и спецификация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3493008"/>
            <a:ext cx="295351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19" b="0" i="0">
                <a:solidFill>
                  <a:srgbClr val="4E607C"/>
                </a:solidFill>
                <a:latin typeface="Arial"/>
              </a:rPr>
              <a:t>сохранение схем, история запусков, PDF/XLSX-выгрузки, demo-проекты и переход к спецификации.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892040"/>
            <a:ext cx="1037844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0" i="0">
                <a:solidFill>
                  <a:srgbClr val="4E607C"/>
                </a:solidFill>
                <a:latin typeface="Arial"/>
              </a:rPr>
              <a:t>Ассортимент и карточки здесь рассматриваются как свойства каталога, а не как отдельные функции: они обеспечивают работу модулей подбора, расчёта и заказа.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863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223D"/>
                </a:solidFill>
                <a:latin typeface="Arial"/>
              </a:rPr>
              <a:t>CAD-редактор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4E607C"/>
                </a:solidFill>
                <a:latin typeface="Arial"/>
              </a:rPr>
              <a:t>Отдельный режим для чертежей, ГОСТ-шаблонов, компонентов и экспорта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383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50" b="0" i="0">
                <a:solidFill>
                  <a:srgbClr val="4E607C"/>
                </a:solidFill>
                <a:latin typeface="Arial"/>
              </a:rPr>
              <a:t>DOLG · дипломная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7772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 i="0">
                <a:solidFill>
                  <a:srgbClr val="4E607C"/>
                </a:solidFill>
                <a:latin typeface="Arial"/>
              </a:rPr>
              <a:t>8/12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790956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d_editor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152144"/>
            <a:ext cx="7799832" cy="48737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32520" y="11430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32520" y="1143000"/>
            <a:ext cx="54864" cy="960120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1289304"/>
            <a:ext cx="21305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2223D"/>
                </a:solidFill>
                <a:latin typeface="Arial"/>
              </a:rPr>
              <a:t>Режим CAD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1691640"/>
            <a:ext cx="2130552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19" b="0" i="0">
                <a:solidFill>
                  <a:srgbClr val="4E607C"/>
                </a:solidFill>
                <a:latin typeface="Arial"/>
              </a:rPr>
              <a:t>сетка, snap, слои, свойства, инструментальные кнопки и отдельный холст.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42316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2423160"/>
            <a:ext cx="54864" cy="960120"/>
          </a:xfrm>
          <a:prstGeom prst="rect">
            <a:avLst/>
          </a:prstGeom>
          <a:solidFill>
            <a:srgbClr val="2F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2569464"/>
            <a:ext cx="21305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2223D"/>
                </a:solidFill>
                <a:latin typeface="Arial"/>
              </a:rPr>
              <a:t>ГОСТ и чертежи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2971800"/>
            <a:ext cx="2130552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19" b="0" i="0">
                <a:solidFill>
                  <a:srgbClr val="4E607C"/>
                </a:solidFill>
                <a:latin typeface="Arial"/>
              </a:rPr>
              <a:t>рамки, штампы, тест-сценарии, размерные линии и выноски.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70332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32520" y="3703320"/>
            <a:ext cx="54864" cy="960120"/>
          </a:xfrm>
          <a:prstGeom prst="rect">
            <a:avLst/>
          </a:prstGeom>
          <a:solidFill>
            <a:srgbClr val="1FB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3849624"/>
            <a:ext cx="21305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2223D"/>
                </a:solidFill>
                <a:latin typeface="Arial"/>
              </a:rPr>
              <a:t>Экспорт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4251960"/>
            <a:ext cx="2130552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19" b="0" i="0">
                <a:solidFill>
                  <a:srgbClr val="4E607C"/>
                </a:solidFill>
                <a:latin typeface="Arial"/>
              </a:rPr>
              <a:t>PDF A3, PNG, SVG, JSON и передача в симулятор.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863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223D"/>
                </a:solidFill>
                <a:latin typeface="Arial"/>
              </a:rPr>
              <a:t>Симуляция и измерения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4E607C"/>
                </a:solidFill>
                <a:latin typeface="Arial"/>
              </a:rPr>
              <a:t>Схема, SPICE-анализ, BOM и инженерная обратная связь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383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50" b="0" i="0">
                <a:solidFill>
                  <a:srgbClr val="4E607C"/>
                </a:solidFill>
                <a:latin typeface="Arial"/>
              </a:rPr>
              <a:t>DOLG · дипломная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7772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 i="0">
                <a:solidFill>
                  <a:srgbClr val="4E607C"/>
                </a:solidFill>
                <a:latin typeface="Arial"/>
              </a:rPr>
              <a:t>9/12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74066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mulation_ac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152144"/>
            <a:ext cx="7296912" cy="48737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75320" y="1143000"/>
            <a:ext cx="2971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1143000"/>
            <a:ext cx="54864" cy="914400"/>
          </a:xfrm>
          <a:prstGeom prst="rect">
            <a:avLst/>
          </a:prstGeom>
          <a:solidFill>
            <a:srgbClr val="2F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289304"/>
            <a:ext cx="2587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2223D"/>
                </a:solidFill>
                <a:latin typeface="Arial"/>
              </a:rPr>
              <a:t>Режимы анализа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1691640"/>
            <a:ext cx="2587752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30" b="0" i="0">
                <a:solidFill>
                  <a:srgbClr val="4E607C"/>
                </a:solidFill>
                <a:latin typeface="Arial"/>
              </a:rPr>
              <a:t>DC, AC и TRAN; при недоступности WASM используется JS-MNA fallback.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331720"/>
            <a:ext cx="2971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331720"/>
            <a:ext cx="54864" cy="914400"/>
          </a:xfrm>
          <a:prstGeom prst="rect">
            <a:avLst/>
          </a:prstGeom>
          <a:solidFill>
            <a:srgbClr val="1FB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2478024"/>
            <a:ext cx="2587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2223D"/>
                </a:solidFill>
                <a:latin typeface="Arial"/>
              </a:rPr>
              <a:t>Метрики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880360"/>
            <a:ext cx="2587752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30" b="0" i="0">
                <a:solidFill>
                  <a:srgbClr val="4E607C"/>
                </a:solidFill>
                <a:latin typeface="Arial"/>
              </a:rPr>
              <a:t>напряжение узла, ток ветви, RMS, частота, duty cycle, мощность элемента.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520440"/>
            <a:ext cx="2971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3520440"/>
            <a:ext cx="54864" cy="914400"/>
          </a:xfrm>
          <a:prstGeom prst="rect">
            <a:avLst/>
          </a:prstGeom>
          <a:solidFill>
            <a:srgbClr val="EC5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3666744"/>
            <a:ext cx="2587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2223D"/>
                </a:solidFill>
                <a:latin typeface="Arial"/>
              </a:rPr>
              <a:t>Связь с каталогом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069080"/>
            <a:ext cx="2587752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30" b="0" i="0">
                <a:solidFill>
                  <a:srgbClr val="4E607C"/>
                </a:solidFill>
                <a:latin typeface="Arial"/>
              </a:rPr>
              <a:t>из схемы формируется BOM, затем позиции сопоставляются с товарами.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709160"/>
            <a:ext cx="2971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4709160"/>
            <a:ext cx="54864" cy="914400"/>
          </a:xfrm>
          <a:prstGeom prst="rect">
            <a:avLst/>
          </a:prstGeom>
          <a:solidFill>
            <a:srgbClr val="734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4855464"/>
            <a:ext cx="258775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2223D"/>
                </a:solidFill>
                <a:latin typeface="Arial"/>
              </a:rPr>
              <a:t>Лаборатория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5257800"/>
            <a:ext cx="2587752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30" b="0" i="0">
                <a:solidFill>
                  <a:srgbClr val="4E607C"/>
                </a:solidFill>
                <a:latin typeface="Arial"/>
              </a:rPr>
              <a:t>те же расчёты используются в обучении и проверке практических задач.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863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223D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4E607C"/>
                </a:solidFill>
                <a:latin typeface="Arial"/>
              </a:rPr>
              <a:t>Тесты, demo-ready контроль и лабораторный результат как наглядное подтверждение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383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50" b="0" i="0">
                <a:solidFill>
                  <a:srgbClr val="4E607C"/>
                </a:solidFill>
                <a:latin typeface="Arial"/>
              </a:rPr>
              <a:t>DOLG · дипломная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7772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 i="0">
                <a:solidFill>
                  <a:srgbClr val="4E607C"/>
                </a:solidFill>
                <a:latin typeface="Arial"/>
              </a:rPr>
              <a:t>10/12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3840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12223D"/>
                          </a:solidFill>
                          <a:latin typeface="Arial"/>
                        </a:rPr>
                        <a:t>Уровень проверки</a:t>
                      </a:r>
                    </a:p>
                  </a:txBody>
                  <a:tcPr marL="45720" marR="45720" marT="36576" marB="36576">
                    <a:solidFill>
                      <a:srgbClr val="E2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12223D"/>
                          </a:solidFill>
                          <a:latin typeface="Arial"/>
                        </a:rPr>
                        <a:t>Что подтверждается</a:t>
                      </a:r>
                    </a:p>
                  </a:txBody>
                  <a:tcPr marL="45720" marR="45720" marT="36576" marB="36576">
                    <a:solidFill>
                      <a:srgbClr val="E2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Unit/model tests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модели, расчёты, grader, BOM, заказы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View/API tests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страницы лаборатории, обучения, поиска и API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Demo-ready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минимумы данных и URL smoke, включая /knowledge/lab/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Data integrity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4E607C"/>
                          </a:solidFill>
                          <a:latin typeface="Arial"/>
                        </a:rPr>
                        <a:t>изображения, статьи, ссылки, demo-схемы</a:t>
                      </a: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370832"/>
            <a:ext cx="1207008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443984"/>
            <a:ext cx="106070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599432"/>
            <a:ext cx="1060704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2F6FE1"/>
                </a:solidFill>
                <a:latin typeface="Arial"/>
              </a:rPr>
              <a:t>146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4370832"/>
            <a:ext cx="1207008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B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2" y="4443984"/>
            <a:ext cx="106070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4599432"/>
            <a:ext cx="1060704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1FB270"/>
                </a:solidFill>
                <a:latin typeface="Arial"/>
              </a:rPr>
              <a:t>140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4370832"/>
            <a:ext cx="1207008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C57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4443984"/>
            <a:ext cx="106070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750" b="0" i="0">
                <a:solidFill>
                  <a:srgbClr val="4E607C"/>
                </a:solidFill>
                <a:latin typeface="Arial"/>
              </a:rPr>
              <a:t>skipped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4599432"/>
            <a:ext cx="1060704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EC5719"/>
                </a:solidFill>
                <a:latin typeface="Arial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143000"/>
            <a:ext cx="658368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ngineering_lab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197864"/>
            <a:ext cx="6473952" cy="48737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5285232"/>
            <a:ext cx="4069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4E607C"/>
                </a:solidFill>
                <a:latin typeface="Arial"/>
              </a:rPr>
              <a:t>На слайде справа — результат, который пользователь получает в инженерной лаборатории: численные метрики сразу сопровождаются оценкой “норма” или “риск”.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863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400" b="1" i="0">
                <a:solidFill>
                  <a:srgbClr val="12223D"/>
                </a:solidFill>
                <a:latin typeface="Arial"/>
              </a:rPr>
              <a:t>План развития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4E607C"/>
                </a:solidFill>
                <a:latin typeface="Arial"/>
              </a:rPr>
              <a:t>Следующий фронт работ после добавления лаборатории и практикума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3832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750" b="0" i="0">
                <a:solidFill>
                  <a:srgbClr val="4E607C"/>
                </a:solidFill>
                <a:latin typeface="Arial"/>
              </a:rPr>
              <a:t>DOLG · дипломная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7772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 i="0">
                <a:solidFill>
                  <a:srgbClr val="4E607C"/>
                </a:solidFill>
                <a:latin typeface="Arial"/>
              </a:rPr>
              <a:t>11/12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104698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051560"/>
            <a:ext cx="54864" cy="859536"/>
          </a:xfrm>
          <a:prstGeom prst="rect">
            <a:avLst/>
          </a:prstGeom>
          <a:solidFill>
            <a:srgbClr val="2F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197864"/>
            <a:ext cx="1008583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20" b="1" i="0">
                <a:solidFill>
                  <a:srgbClr val="12223D"/>
                </a:solidFill>
                <a:latin typeface="Arial"/>
              </a:rPr>
              <a:t>1. CAD/SIM ядро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1600200"/>
            <a:ext cx="10085832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4E607C"/>
                </a:solidFill>
                <a:latin typeface="Arial"/>
              </a:rPr>
              <a:t>probes и курсоры графиков, DRC/ERC, устойчивый netlist, улучшение smart wiring и читаемости схем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93391"/>
            <a:ext cx="104698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993391"/>
            <a:ext cx="54864" cy="859536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139695"/>
            <a:ext cx="1008583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20" b="1" i="0">
                <a:solidFill>
                  <a:srgbClr val="12223D"/>
                </a:solidFill>
                <a:latin typeface="Arial"/>
              </a:rPr>
              <a:t>2. Лаборатория измерений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2542031"/>
            <a:ext cx="10085832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4E607C"/>
                </a:solidFill>
                <a:latin typeface="Arial"/>
              </a:rPr>
              <a:t>графики измерений, branch current, RMS, duty cycle, мощность элемента, температура, журнал лабораторных запусков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935224"/>
            <a:ext cx="104698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935224"/>
            <a:ext cx="54864" cy="859536"/>
          </a:xfrm>
          <a:prstGeom prst="rect">
            <a:avLst/>
          </a:prstGeom>
          <a:solidFill>
            <a:srgbClr val="1FB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081528"/>
            <a:ext cx="1008583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20" b="1" i="0">
                <a:solidFill>
                  <a:srgbClr val="12223D"/>
                </a:solidFill>
                <a:latin typeface="Arial"/>
              </a:rPr>
              <a:t>3. Обучение пакетами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3483864"/>
            <a:ext cx="10085832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4E607C"/>
                </a:solidFill>
                <a:latin typeface="Arial"/>
              </a:rPr>
              <a:t>каждая крупная фича добавляется вместе с учебным блоком, задачами и demo-сценарием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77056"/>
            <a:ext cx="104698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877056"/>
            <a:ext cx="54864" cy="859536"/>
          </a:xfrm>
          <a:prstGeom prst="rect">
            <a:avLst/>
          </a:prstGeom>
          <a:solidFill>
            <a:srgbClr val="EC57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4023360"/>
            <a:ext cx="1008583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20" b="1" i="0">
                <a:solidFill>
                  <a:srgbClr val="12223D"/>
                </a:solidFill>
                <a:latin typeface="Arial"/>
              </a:rPr>
              <a:t>4. Интеграции CAD/EDA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4425696"/>
            <a:ext cx="10085832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4E607C"/>
                </a:solidFill>
                <a:latin typeface="Arial"/>
              </a:rPr>
              <a:t>KiCad, LTspice, EDIF, Gerber/Excellon, расширенная библиотека SPICE-моделей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18888"/>
            <a:ext cx="104698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818888"/>
            <a:ext cx="54864" cy="859536"/>
          </a:xfrm>
          <a:prstGeom prst="rect">
            <a:avLst/>
          </a:prstGeom>
          <a:solidFill>
            <a:srgbClr val="734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" y="4965192"/>
            <a:ext cx="1008583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20" b="1" i="0">
                <a:solidFill>
                  <a:srgbClr val="12223D"/>
                </a:solidFill>
                <a:latin typeface="Arial"/>
              </a:rPr>
              <a:t>5. Production-контур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" y="5367528"/>
            <a:ext cx="10085832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4E607C"/>
                </a:solidFill>
                <a:latin typeface="Arial"/>
              </a:rPr>
              <a:t>PostgreSQL, HTTPS, static/media storage, мониторинг, резервное копирование и регламент обновлений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989320"/>
            <a:ext cx="98755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50" b="1" i="0">
                <a:solidFill>
                  <a:srgbClr val="12223D"/>
                </a:solidFill>
                <a:latin typeface="Arial"/>
              </a:rPr>
              <a:t>Базовое правило дальнейшего развития: крупная фича -&gt; обучающий блок -&gt; документация и демонстрационный сценарий.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54864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400" b="1" i="0">
                <a:solidFill>
                  <a:srgbClr val="12223D"/>
                </a:solidFill>
                <a:latin typeface="Arial"/>
              </a:rPr>
              <a:t>Спасибо за внимание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74519"/>
            <a:ext cx="55778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 i="0">
                <a:solidFill>
                  <a:srgbClr val="12223D"/>
                </a:solidFill>
                <a:latin typeface="Arial"/>
              </a:rPr>
              <a:t>Разработка веб-приложения для продажи радио- и электронных компонентов со встроенными инструментами проектирования и симуляции схем.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127248"/>
            <a:ext cx="49377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127248"/>
            <a:ext cx="54864" cy="1261872"/>
          </a:xfrm>
          <a:prstGeom prst="rect">
            <a:avLst/>
          </a:prstGeom>
          <a:solidFill>
            <a:srgbClr val="009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273552"/>
            <a:ext cx="455371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2223D"/>
                </a:solidFill>
                <a:latin typeface="Arial"/>
              </a:rPr>
              <a:t>Контактная информация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675888"/>
            <a:ext cx="455371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60" b="0" i="0">
                <a:solidFill>
                  <a:srgbClr val="4E607C"/>
                </a:solidFill>
                <a:latin typeface="Arial"/>
              </a:rPr>
              <a:t>Автор: Буряко Дмитрий Сергеевич
Научный руководитель: Буланов Сергей Георгиевич
Год защиты: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645152"/>
            <a:ext cx="4937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4645152"/>
            <a:ext cx="54864" cy="1078992"/>
          </a:xfrm>
          <a:prstGeom prst="rect">
            <a:avLst/>
          </a:prstGeom>
          <a:solidFill>
            <a:srgbClr val="1FB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791456"/>
            <a:ext cx="4553712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12223D"/>
                </a:solidFill>
                <a:latin typeface="Arial"/>
              </a:rPr>
              <a:t>Демонстрация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193792"/>
            <a:ext cx="455371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4E607C"/>
                </a:solidFill>
                <a:latin typeface="Arial"/>
              </a:rPr>
              <a:t>Локальный маршрут: /demo/
Ключевой сценарий: каталог -&gt; лаборатория -&gt; CAD -&gt; симуляция -&gt; BOM -&gt; заказ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960120"/>
            <a:ext cx="47091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talog_card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014984"/>
            <a:ext cx="4599432" cy="43251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12680" y="6446520"/>
            <a:ext cx="7772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 i="0">
                <a:solidFill>
                  <a:srgbClr val="4E607C"/>
                </a:solidFill>
                <a:latin typeface="Arial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