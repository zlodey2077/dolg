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594360"/>
            <a:ext cx="6355080" cy="452628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594360"/>
            <a:ext cx="6355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5440680"/>
            <a:ext cx="6355080" cy="160020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440680"/>
            <a:ext cx="6355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804672"/>
            <a:ext cx="5897880" cy="347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300" b="1">
                <a:solidFill>
                  <a:srgbClr val="0891B2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89888"/>
            <a:ext cx="5687568" cy="30632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6000"/>
              </a:lnSpc>
            </a:pPr>
            <a:r>
              <a:rPr sz="2700" b="1">
                <a:solidFill>
                  <a:srgbClr val="0F172A"/>
                </a:solidFill>
                <a:latin typeface="Arial"/>
              </a:rPr>
              <a:t>Разработка веб-приложения для продажи радио- и электронных компонентов со встроенными инструментами проектирования и симуляции схем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687568"/>
            <a:ext cx="5715000" cy="96012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Автор: Буряко Дмитрий Сергеевич</a:t>
            </a:r>
          </a:p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Руководитель: Буланов Сергей Георгиевич</a:t>
            </a:r>
          </a:p>
          <a:p>
            <a:pPr algn="l">
              <a:lnSpc>
                <a:spcPct val="90000"/>
              </a:lnSpc>
            </a:pPr>
            <a:r>
              <a:rPr sz="1850" b="1">
                <a:solidFill>
                  <a:srgbClr val="1E293B"/>
                </a:solidFill>
                <a:latin typeface="Arial"/>
              </a:rPr>
              <a:t>Год защиты: 2026</a:t>
            </a:r>
          </a:p>
        </p:txBody>
      </p:sp>
      <p:pic>
        <p:nvPicPr>
          <p:cNvPr id="12" name="Picture 11" descr="01_hom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93668"/>
            <a:ext cx="6492240" cy="41735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Проблемы, цели и 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Проблемы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Каталог, datasheet, CAD, SPICE, BOM и заказ часто существуют отдельно.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/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Номиналы, модели и результаты приходится переносить вручную.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5232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85232" y="1508760"/>
            <a:ext cx="40690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9824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4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Разработать веб-приложение для продажи радио- и электронных компонентов со встроенными инструментами проектирования и симуляции схем.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93808" y="1508760"/>
            <a:ext cx="4069080" cy="4892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93808" y="150876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1673351"/>
            <a:ext cx="3739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295144"/>
            <a:ext cx="3739896" cy="4050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Каталог и заказы.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CAD/SIM.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Лаборатория.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Обучение.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Review.</a:t>
            </a:r>
          </a:p>
          <a:p>
            <a:pPr algn="l">
              <a:lnSpc>
                <a:spcPct val="92000"/>
              </a:lnSpc>
            </a:pPr>
            <a:r>
              <a:rPr sz="2500" b="0">
                <a:solidFill>
                  <a:srgbClr val="1E293B"/>
                </a:solidFill>
                <a:latin typeface="Arial"/>
              </a:rPr>
              <a:t>Качество данных.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Анализ решений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33502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5303520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Что хорошо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</a:rPr>
                        <a:t>Чего не хватает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Маркетплейсы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поиск, цена, заказ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нет проверки схемы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Онлайн-симуляторы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быстрый эксперимент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слабая связь с товарами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KiCad / Altium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EDA workflow, DRC/ERC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высокий порог входа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AI-CAD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подсказки по проекту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Arial"/>
                        </a:rPr>
                        <a:t>нужны проверяемые факты</a:t>
                      </a:r>
                    </a:p>
                  </a:txBody>
                  <a:tcPr>
                    <a:solidFill>
                      <a:srgbClr val="E2E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Функции системы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Каталог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карточки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фильтры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параметры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0" y="1325880"/>
            <a:ext cx="4069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статьи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обучение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75519" y="132588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75519" y="132588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85247" y="150876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Лаборатория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85247" y="187451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расчеты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оценки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метрики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91839"/>
            <a:ext cx="4069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CAD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схема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GND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экспорт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57800" y="3291839"/>
            <a:ext cx="40690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7528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SIM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DC / AC / TRAN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FFT / Bode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Monte Carlo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75519" y="3291839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75519" y="3291839"/>
            <a:ext cx="40690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5247" y="347472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5247" y="3840479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DRC/ERC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BOM risk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findings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257800"/>
            <a:ext cx="40690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Import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LTspice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SPICE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KiCad subset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57800" y="5257800"/>
            <a:ext cx="4069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67528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Заказ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7528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BOM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XLSX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корзина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5257800"/>
            <a:ext cx="4069080" cy="1508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5519" y="5257800"/>
            <a:ext cx="4069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7" y="5440680"/>
            <a:ext cx="38496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7" y="5806440"/>
            <a:ext cx="3849624" cy="9052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правила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факты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подсказки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Архитектура: приложения и данные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425196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425196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Django apps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12264"/>
            <a:ext cx="3922776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shop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accounts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orders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knowledge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Dolg_APP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1325880"/>
            <a:ext cx="425196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0368" y="1325880"/>
            <a:ext cx="42519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59" y="2112264"/>
            <a:ext cx="3922776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товары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схемы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измерения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уроки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review snapshots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заказы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325880"/>
            <a:ext cx="4160520" cy="53035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1325880"/>
            <a:ext cx="41605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1490472"/>
            <a:ext cx="38313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Контуры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2112264"/>
            <a:ext cx="3831335" cy="44622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каталог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проектирование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симуляция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обучение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коммерция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Архитектура: service-layer и библиотеки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14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1936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65408" y="1417320"/>
            <a:ext cx="2514600" cy="960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1764792"/>
            <a:ext cx="2377439" cy="5486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500" b="1">
                <a:solidFill>
                  <a:srgbClr val="0F172A"/>
                </a:solidFill>
                <a:latin typeface="Arial"/>
              </a:rPr>
              <a:t>Reports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2788920"/>
            <a:ext cx="3931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Scientific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NumPy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SciPy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Matplotlib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Pandas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49240" y="2788920"/>
            <a:ext cx="39319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13831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Graph / Formula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1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NetworkX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SymPy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Schemdraw</a:t>
            </a:r>
          </a:p>
          <a:p>
            <a:pPr algn="l">
              <a:lnSpc>
                <a:spcPct val="92000"/>
              </a:lnSpc>
            </a:pPr>
            <a:r>
              <a:rPr sz="2600" b="0">
                <a:solidFill>
                  <a:srgbClr val="1E293B"/>
                </a:solidFill>
                <a:latin typeface="Arial"/>
              </a:rPr>
              <a:t>• Pint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2788920"/>
            <a:ext cx="3931920" cy="31089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2788920"/>
            <a:ext cx="39319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31552" y="2953512"/>
            <a:ext cx="3602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Expert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3575303"/>
            <a:ext cx="3602736" cy="22677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jsonschema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rule-engine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Lark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Z3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scikit-fuzzy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Каталог</a:t>
            </a:r>
          </a:p>
        </p:txBody>
      </p:sp>
      <p:pic>
        <p:nvPicPr>
          <p:cNvPr id="7" name="Picture 6" descr="01_catalog_cards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21904"/>
            <a:ext cx="8458200" cy="52863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53728" y="1234440"/>
            <a:ext cx="4709160" cy="54406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53728" y="1234440"/>
            <a:ext cx="470916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19" y="1399032"/>
            <a:ext cx="43799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Функции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19" y="2020824"/>
            <a:ext cx="4379976" cy="459943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карточки товаров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активные chips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unit-aware фильтры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datasheet / SPICE / CAD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media quality 89/89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Knowledge и обучение</a:t>
            </a:r>
          </a:p>
        </p:txBody>
      </p:sp>
      <p:pic>
        <p:nvPicPr>
          <p:cNvPr id="7" name="Picture 6" descr="08_knowledge_article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9942"/>
            <a:ext cx="7680960" cy="34696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496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49640" y="1417320"/>
            <a:ext cx="1600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93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900" b="0">
                <a:solidFill>
                  <a:srgbClr val="1E293B"/>
                </a:solidFill>
                <a:latin typeface="Arial"/>
              </a:rPr>
              <a:t>статья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784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78440" y="1417320"/>
            <a:ext cx="16002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81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881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07240" y="1417320"/>
            <a:ext cx="1600200" cy="10515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207240" y="1417320"/>
            <a:ext cx="1600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6967" y="1600200"/>
            <a:ext cx="138074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16967" y="1965960"/>
            <a:ext cx="1380744" cy="448055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900" b="0">
                <a:solidFill>
                  <a:srgbClr val="1E293B"/>
                </a:solidFill>
                <a:latin typeface="Arial"/>
              </a:rPr>
              <a:t>задания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2971800"/>
            <a:ext cx="5303520" cy="28346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2971800"/>
            <a:ext cx="53035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4232" y="3136392"/>
            <a:ext cx="49743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Типы заданий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3758184"/>
            <a:ext cx="4974336" cy="19933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числовой ответ</a:t>
            </a:r>
          </a:p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сборка схемы</a:t>
            </a:r>
          </a:p>
          <a:p>
            <a:pPr algn="l">
              <a:lnSpc>
                <a:spcPct val="92000"/>
              </a:lnSpc>
            </a:pPr>
            <a:r>
              <a:rPr sz="2800" b="0">
                <a:solidFill>
                  <a:srgbClr val="1E293B"/>
                </a:solidFill>
                <a:latin typeface="Arial"/>
              </a:rPr>
              <a:t>• измерение симуляции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Инженерная лаборатория</a:t>
            </a:r>
          </a:p>
        </p:txBody>
      </p:sp>
      <p:pic>
        <p:nvPicPr>
          <p:cNvPr id="7" name="Picture 6" descr="02_engineering_lab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747"/>
            <a:ext cx="8732520" cy="54578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55480" y="1234440"/>
            <a:ext cx="4389120" cy="30632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55480" y="1234440"/>
            <a:ext cx="4389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0072" y="139903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Расчеты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0072" y="2020824"/>
            <a:ext cx="4059935" cy="22219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NE555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стабилизатор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транзисторный ключ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тепловой запас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RC-антидребезг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55480" y="4617720"/>
            <a:ext cx="4389120" cy="2148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55480" y="4617720"/>
            <a:ext cx="43891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72" y="478231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Оценки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72" y="5404104"/>
            <a:ext cx="4059935" cy="13075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норма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риск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перегрев</a:t>
            </a:r>
          </a:p>
          <a:p>
            <a:pPr algn="l">
              <a:lnSpc>
                <a:spcPct val="92000"/>
              </a:lnSpc>
            </a:pPr>
            <a:r>
              <a:rPr sz="2000" b="0">
                <a:solidFill>
                  <a:srgbClr val="1E293B"/>
                </a:solidFill>
                <a:latin typeface="Arial"/>
              </a:rPr>
              <a:t>• нужен запас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CAD-редактор</a:t>
            </a:r>
          </a:p>
        </p:txBody>
      </p:sp>
      <p:pic>
        <p:nvPicPr>
          <p:cNvPr id="7" name="Picture 6" descr="03_cad_editor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051560"/>
            <a:ext cx="9948672" cy="6217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72800" y="1234440"/>
            <a:ext cx="2926080" cy="525780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0" y="1234440"/>
            <a:ext cx="292608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37392" y="1399032"/>
            <a:ext cx="25968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Режим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37392" y="2020824"/>
            <a:ext cx="2596896" cy="441655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GND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источник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components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wires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labels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export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11/20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Симуляция и измерения</a:t>
            </a:r>
          </a:p>
        </p:txBody>
      </p:sp>
      <p:pic>
        <p:nvPicPr>
          <p:cNvPr id="7" name="Picture 6" descr="04_simulation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0175"/>
            <a:ext cx="8686800" cy="54292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09760" y="1143000"/>
            <a:ext cx="4389120" cy="23317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0" y="1143000"/>
            <a:ext cx="4389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74352" y="130759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Анализы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4352" y="1929384"/>
            <a:ext cx="4059935" cy="1490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DC / OP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AC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TRAN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3794760"/>
            <a:ext cx="4389120" cy="30632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09760" y="3794760"/>
            <a:ext cx="43891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4352" y="3959352"/>
            <a:ext cx="4059935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Метрики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352" y="4581144"/>
            <a:ext cx="4059935" cy="22219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напряжение узла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ток ветви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RMS / частота / duty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мощность / температура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expected vs measured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12/20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Pro-аналитика</a:t>
            </a:r>
          </a:p>
        </p:txBody>
      </p:sp>
      <p:pic>
        <p:nvPicPr>
          <p:cNvPr id="7" name="Picture 6" descr="02_simulation_ac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3222"/>
            <a:ext cx="8778240" cy="56431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46920" y="1325880"/>
            <a:ext cx="4251960" cy="2606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46920" y="1325880"/>
            <a:ext cx="425196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1512" y="149047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Возможности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2112264"/>
            <a:ext cx="3922776" cy="176479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FFT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Bode plot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Monte Carlo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parameter sweep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4343400"/>
            <a:ext cx="4251960" cy="23317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46920" y="4343400"/>
            <a:ext cx="425196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1512" y="4507992"/>
            <a:ext cx="392277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Стек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5129784"/>
            <a:ext cx="3922776" cy="1490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NumPy / SciPy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Matplotlib / Pandas</a:t>
            </a:r>
          </a:p>
          <a:p>
            <a:pPr algn="l">
              <a:lnSpc>
                <a:spcPct val="92000"/>
              </a:lnSpc>
            </a:pPr>
            <a:r>
              <a:rPr sz="2100" b="0">
                <a:solidFill>
                  <a:srgbClr val="1E293B"/>
                </a:solidFill>
                <a:latin typeface="Arial"/>
              </a:rPr>
              <a:t>• scientific stack 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13/20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Экспертные уровни контроля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212140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Правила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1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Граф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Формулы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8896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Расчет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AI-подсказка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9455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59" y="1417320"/>
            <a:ext cx="2121408" cy="10972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68911" y="1764792"/>
            <a:ext cx="1984248" cy="6858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Человек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" y="3063240"/>
            <a:ext cx="38404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Проверяемые факты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GND, источник, номиналы, связи, BOM, измерения.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60" y="3063240"/>
            <a:ext cx="38404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Автоматический вывод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findings, риски, рекомендации, подбор вариантов.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3063240"/>
            <a:ext cx="3840480" cy="26517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3063240"/>
            <a:ext cx="38404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3227832"/>
            <a:ext cx="351129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rial"/>
              </a:rPr>
              <a:t>Финальный контроль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4392" y="3849624"/>
            <a:ext cx="351129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300" b="0">
                <a:solidFill>
                  <a:srgbClr val="1E293B"/>
                </a:solidFill>
                <a:latin typeface="Arial"/>
              </a:rPr>
              <a:t>Последнее решение всегда остается за человеком.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14/20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CAD-импорт и базы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2514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LTspice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7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1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SPICE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8464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KiCad subset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31936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scheme_data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9104" y="1810512"/>
            <a:ext cx="146304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891B2"/>
                </a:solidFill>
                <a:latin typeface="Arial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65408" y="1417320"/>
            <a:ext cx="2514600" cy="10058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0" y="1764792"/>
            <a:ext cx="2377439" cy="5943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300" b="1">
                <a:solidFill>
                  <a:srgbClr val="0F172A"/>
                </a:solidFill>
                <a:latin typeface="Arial"/>
              </a:rPr>
              <a:t>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46120"/>
            <a:ext cx="224028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Компоненты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параметры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наличие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карточки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3246120"/>
            <a:ext cx="22402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1296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SPICE / CAD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1296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модели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корпуса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netlist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71616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71616" y="3246120"/>
            <a:ext cx="224028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Правила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DRC/ERC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risk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41664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41664" y="3246120"/>
            <a:ext cx="22402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51392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Знания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статьи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материалы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формулы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11712" y="3246120"/>
            <a:ext cx="2240280" cy="2377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11712" y="3246120"/>
            <a:ext cx="224028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0" y="3429000"/>
            <a:ext cx="2020824" cy="3657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Arial"/>
              </a:rPr>
              <a:t>Задания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3794759"/>
            <a:ext cx="2020824" cy="1773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math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circuit</a:t>
            </a:r>
          </a:p>
          <a:p>
            <a:pPr algn="ctr"/>
            <a:r>
              <a:rPr sz="1650" b="0">
                <a:solidFill>
                  <a:srgbClr val="1E293B"/>
                </a:solidFill>
                <a:latin typeface="Arial"/>
              </a:rPr>
              <a:t>measure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15/20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BOM и заказ</a:t>
            </a:r>
          </a:p>
        </p:txBody>
      </p:sp>
      <p:pic>
        <p:nvPicPr>
          <p:cNvPr id="7" name="Picture 6" descr="07_product_related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67" y="1280160"/>
            <a:ext cx="6530945" cy="31546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52360" y="1234440"/>
            <a:ext cx="2971800" cy="4389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29718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399032"/>
            <a:ext cx="26426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020824"/>
            <a:ext cx="2642616" cy="3547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позиции схемы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подбор товара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XLSX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1234440"/>
            <a:ext cx="2971800" cy="4389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35640" y="1234440"/>
            <a:ext cx="29718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232" y="1399032"/>
            <a:ext cx="26426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Заказ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2020824"/>
            <a:ext cx="2642616" cy="3547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корзина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остатки</a:t>
            </a:r>
          </a:p>
          <a:p>
            <a:pPr algn="l">
              <a:lnSpc>
                <a:spcPct val="92000"/>
              </a:lnSpc>
            </a:pPr>
            <a:r>
              <a:rPr sz="2700" b="0">
                <a:solidFill>
                  <a:srgbClr val="1E293B"/>
                </a:solidFill>
                <a:latin typeface="Arial"/>
              </a:rPr>
              <a:t>• checkout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74920"/>
            <a:ext cx="2743200" cy="1234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5074920"/>
            <a:ext cx="274320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66944"/>
            <a:ext cx="256032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rial"/>
              </a:rPr>
              <a:t>3/3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5788152"/>
            <a:ext cx="259689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browser smoke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39" y="5074920"/>
            <a:ext cx="2743200" cy="12344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7639" y="5074920"/>
            <a:ext cx="27432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79" y="5266944"/>
            <a:ext cx="256032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Arial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5788152"/>
            <a:ext cx="259689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order flow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16/20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Развитие проекта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217920" cy="51663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62179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81912"/>
            <a:ext cx="5888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Ближайшее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03704"/>
            <a:ext cx="5888736" cy="43251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комментарии пользователей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measurement core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official image/API sources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datasheet extraction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417320"/>
            <a:ext cx="6217920" cy="516636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417320"/>
            <a:ext cx="62179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581912"/>
            <a:ext cx="58887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Дальнейшее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203704"/>
            <a:ext cx="5888736" cy="43251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OR-Tools для BOM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RDFLib для онтологии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neural deep hints</a:t>
            </a:r>
          </a:p>
          <a:p>
            <a:pPr algn="l">
              <a:lnSpc>
                <a:spcPct val="92000"/>
              </a:lnSpc>
            </a:pPr>
            <a:r>
              <a:rPr sz="2900" b="0">
                <a:solidFill>
                  <a:srgbClr val="1E293B"/>
                </a:solidFill>
                <a:latin typeface="Arial"/>
              </a:rPr>
              <a:t>• расширение CAD-import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17/20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Код: сервисы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355080" cy="233172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80744"/>
            <a:ext cx="6025896" cy="209397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def build_design_review(project):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scheme = project.scheme_data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validation = validate_scheme_data(scheme)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metrics = build_connectivity_metrics(scheme)</a:t>
            </a:r>
          </a:p>
          <a:p>
            <a:pPr algn="l">
              <a:lnSpc>
                <a:spcPct val="88000"/>
              </a:lnSpc>
            </a:pPr>
            <a:r>
              <a:rPr sz="1700" b="0">
                <a:solidFill>
                  <a:srgbClr val="0F172A"/>
                </a:solidFill>
                <a:latin typeface="Consolas"/>
              </a:rPr>
              <a:t>    return compose_review(validation, metrics)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234440"/>
            <a:ext cx="6446520" cy="260604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1380744"/>
            <a:ext cx="6117336" cy="236829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def grade_task(task, payload):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if task.task_type == 'math_numeric':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    answer = payload['answer']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    return grade_math_task(task, answer)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scheme = payload['scheme_data']</a:t>
            </a:r>
          </a:p>
          <a:p>
            <a:pPr algn="l">
              <a:lnSpc>
                <a:spcPct val="88000"/>
              </a:lnSpc>
            </a:pPr>
            <a:r>
              <a:rPr sz="1600" b="0">
                <a:solidFill>
                  <a:srgbClr val="0F172A"/>
                </a:solidFill>
                <a:latin typeface="Consolas"/>
              </a:rPr>
              <a:t>    return grade_circuit_task(task, scheme)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160520"/>
            <a:ext cx="9144000" cy="118872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4306824"/>
            <a:ext cx="8814816" cy="95097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2000" b="0">
                <a:solidFill>
                  <a:srgbClr val="0F172A"/>
                </a:solidFill>
                <a:latin typeface="Consolas"/>
              </a:rPr>
              <a:t>parsed = parse_engineering_quantity('10 кОм', expected_unit='ohm')</a:t>
            </a:r>
          </a:p>
          <a:p>
            <a:pPr algn="l">
              <a:lnSpc>
                <a:spcPct val="88000"/>
              </a:lnSpc>
            </a:pPr>
            <a:r>
              <a:rPr sz="2000" b="0">
                <a:solidFill>
                  <a:srgbClr val="0F172A"/>
                </a:solidFill>
                <a:latin typeface="Consolas"/>
              </a:rPr>
              <a:t># 10000.0 ohm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760720"/>
            <a:ext cx="12527280" cy="896112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" y="5760720"/>
            <a:ext cx="125272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5989320"/>
            <a:ext cx="11978640" cy="3474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2600" b="1">
                <a:solidFill>
                  <a:srgbClr val="0F172A"/>
                </a:solidFill>
                <a:latin typeface="Arial"/>
              </a:rPr>
              <a:t>Код вынесен в сервисы: один слой работает в лаборатории, обучении и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18/20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Код: scheme_data и finding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6400800" cy="429768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35024"/>
            <a:ext cx="6071616" cy="4059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scheme_data = {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'components': [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{'id':'V1', 'type':'source', 'value':'9 V'},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{'id':'R1', 'type':'resistor', 'value':'20 kOhm'},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  {'id':'R2', 'type':'resistor', 'value':'10 kOhm'}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],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  'labels': {'output':'vout'}</a:t>
            </a:r>
          </a:p>
          <a:p>
            <a:pPr algn="l">
              <a:lnSpc>
                <a:spcPct val="88000"/>
              </a:lnSpc>
            </a:pPr>
            <a:r>
              <a:rPr sz="1550" b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188720"/>
            <a:ext cx="6400800" cy="4297680"/>
          </a:xfrm>
          <a:prstGeom prst="rect">
            <a:avLst/>
          </a:prstGeom>
          <a:solidFill>
            <a:srgbClr val="E8EEF5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1335024"/>
            <a:ext cx="6071616" cy="40599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finding = {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'rule_id': 'circuit.ground.required',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'severity': 'error',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'evidence': ['GND node not found'],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  'recommendation': 'Добавьте опорную землю'</a:t>
            </a:r>
          </a:p>
          <a:p>
            <a:pPr algn="l">
              <a:lnSpc>
                <a:spcPct val="88000"/>
              </a:lnSpc>
            </a:pPr>
            <a:r>
              <a:rPr sz="1650" b="0">
                <a:solidFill>
                  <a:srgbClr val="0F172A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797296"/>
            <a:ext cx="12801600" cy="896112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5797296"/>
            <a:ext cx="1280160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12252960" cy="56692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90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Схема, ошибка и рекомендация представлены как данные.</a:t>
            </a:r>
          </a:p>
          <a:p>
            <a:pPr algn="ctr">
              <a:lnSpc>
                <a:spcPct val="90000"/>
              </a:lnSpc>
            </a:pPr>
            <a:r>
              <a:rPr sz="2200" b="1">
                <a:solidFill>
                  <a:srgbClr val="0F172A"/>
                </a:solidFill>
                <a:latin typeface="Arial"/>
              </a:rPr>
              <a:t>Их можно проверять, сохранять и объяснять.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19/20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Итоги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2103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2563EB"/>
                </a:solidFill>
                <a:latin typeface="Arial"/>
              </a:rPr>
              <a:t>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товаров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325880"/>
            <a:ext cx="210312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0891B2"/>
                </a:solidFill>
                <a:latin typeface="Arial"/>
              </a:rPr>
              <a:t>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РЭБ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1325880"/>
            <a:ext cx="210312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79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16A34A"/>
                </a:solidFill>
                <a:latin typeface="Arial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статья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325880"/>
            <a:ext cx="210312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1325880"/>
            <a:ext cx="21031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517904"/>
            <a:ext cx="1920239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EA580C"/>
                </a:solidFill>
                <a:latin typeface="Arial"/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039112"/>
            <a:ext cx="1956815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заданий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1325880"/>
            <a:ext cx="2926080" cy="132588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24160" y="1325880"/>
            <a:ext cx="292608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0" y="1517904"/>
            <a:ext cx="2743200" cy="402336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3000" b="1">
                <a:solidFill>
                  <a:srgbClr val="7C3AED"/>
                </a:solidFill>
                <a:latin typeface="Arial"/>
              </a:rPr>
              <a:t>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7312" y="2039112"/>
            <a:ext cx="2779776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/>
            <a:r>
              <a:rPr sz="1850" b="1">
                <a:solidFill>
                  <a:srgbClr val="1E293B"/>
                </a:solidFill>
                <a:latin typeface="Arial"/>
              </a:rPr>
              <a:t>demo-ready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246120"/>
            <a:ext cx="5989320" cy="3246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3246120"/>
            <a:ext cx="59893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07592" y="3410712"/>
            <a:ext cx="566013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Создано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4032504"/>
            <a:ext cx="5660136" cy="2404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каталог + заказы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CAD/SIM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лаборатория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обучение</a:t>
            </a:r>
          </a:p>
          <a:p>
            <a:pPr algn="l">
              <a:lnSpc>
                <a:spcPct val="92000"/>
              </a:lnSpc>
            </a:pPr>
            <a:r>
              <a:rPr sz="2200" b="0">
                <a:solidFill>
                  <a:srgbClr val="1E293B"/>
                </a:solidFill>
                <a:latin typeface="Arial"/>
              </a:rPr>
              <a:t>• expert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3246120"/>
            <a:ext cx="5715000" cy="324612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79" y="3246120"/>
            <a:ext cx="57150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3410712"/>
            <a:ext cx="5385816" cy="694944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Проверено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1" y="4032504"/>
            <a:ext cx="5385816" cy="240487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2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• manage.py check</a:t>
            </a:r>
          </a:p>
          <a:p>
            <a:pPr algn="l">
              <a:lnSpc>
                <a:spcPct val="92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• check_demo_ready</a:t>
            </a:r>
          </a:p>
          <a:p>
            <a:pPr algn="l">
              <a:lnSpc>
                <a:spcPct val="92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• check_data_integrity</a:t>
            </a:r>
          </a:p>
          <a:p>
            <a:pPr algn="l">
              <a:lnSpc>
                <a:spcPct val="92000"/>
              </a:lnSpc>
            </a:pPr>
            <a:r>
              <a:rPr sz="2400" b="0">
                <a:solidFill>
                  <a:srgbClr val="1E293B"/>
                </a:solidFill>
                <a:latin typeface="Arial"/>
              </a:rPr>
              <a:t>• media quality 89/89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E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310896" cy="8065008"/>
          </a:xfrm>
          <a:prstGeom prst="rect">
            <a:avLst/>
          </a:prstGeom>
          <a:solidFill>
            <a:srgbClr val="C2CF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53160" y="7726679"/>
            <a:ext cx="502920" cy="22860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r"/>
            <a:r>
              <a:rPr sz="1300" b="0">
                <a:solidFill>
                  <a:srgbClr val="475569"/>
                </a:solidFill>
                <a:latin typeface="Arial"/>
              </a:rPr>
              <a:t>20/20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310896"/>
            <a:ext cx="12161520" cy="91440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9768"/>
            <a:ext cx="11750040" cy="65836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3800" b="1">
                <a:solidFill>
                  <a:srgbClr val="0F172A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07008"/>
            <a:ext cx="8229600" cy="2011680"/>
          </a:xfrm>
          <a:prstGeom prst="rect">
            <a:avLst/>
          </a:prstGeom>
          <a:solidFill>
            <a:srgbClr val="D6E0EC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8229600" cy="10972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703320"/>
            <a:ext cx="8641080" cy="2606040"/>
          </a:xfrm>
          <a:prstGeom prst="rect">
            <a:avLst/>
          </a:prstGeom>
          <a:solidFill>
            <a:srgbClr val="EEF3F8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703320"/>
            <a:ext cx="864108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4754880" cy="8229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5800" b="1">
                <a:solidFill>
                  <a:srgbClr val="0891B2"/>
                </a:solidFill>
                <a:latin typeface="Arial"/>
              </a:rPr>
              <a:t>DOLG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7680960" cy="82296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90000"/>
              </a:lnSpc>
            </a:pPr>
            <a:r>
              <a:rPr sz="2500" b="1">
                <a:solidFill>
                  <a:srgbClr val="0F172A"/>
                </a:solidFill>
                <a:latin typeface="Arial"/>
              </a:rPr>
              <a:t>каталог • CAD/SIM • лаборатория</a:t>
            </a:r>
          </a:p>
          <a:p>
            <a:pPr algn="l">
              <a:lnSpc>
                <a:spcPct val="90000"/>
              </a:lnSpc>
            </a:pPr>
            <a:r>
              <a:rPr sz="2500" b="1">
                <a:solidFill>
                  <a:srgbClr val="0F172A"/>
                </a:solidFill>
                <a:latin typeface="Arial"/>
              </a:rPr>
              <a:t>обучение •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86784"/>
            <a:ext cx="8275320" cy="19202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Буряко Дмитрий Сергеевич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Научный руководитель: Буланов Сергей Георгиевич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Email: buryako@internet.com</a:t>
            </a:r>
          </a:p>
          <a:p>
            <a:pPr algn="l"/>
            <a:r>
              <a:rPr sz="2350" b="1">
                <a:solidFill>
                  <a:srgbClr val="1E293B"/>
                </a:solidFill>
                <a:latin typeface="Arial"/>
              </a:rPr>
              <a:t>Телефон: +7 (903) 439-44-87</a:t>
            </a:r>
          </a:p>
        </p:txBody>
      </p:sp>
      <p:pic>
        <p:nvPicPr>
          <p:cNvPr id="14" name="Picture 13" descr="01_hom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260" y="3520440"/>
            <a:ext cx="4196080" cy="2697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