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1/20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594360"/>
            <a:ext cx="6355080" cy="452628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594360"/>
            <a:ext cx="6355080" cy="10972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440680"/>
            <a:ext cx="6355080" cy="160020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5440680"/>
            <a:ext cx="635508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804672"/>
            <a:ext cx="5897880" cy="34747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300" b="1">
                <a:solidFill>
                  <a:srgbClr val="0891B2"/>
                </a:solidFill>
                <a:latin typeface="Arial"/>
              </a:rPr>
              <a:t>Выпускная квалификационная работа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89888"/>
            <a:ext cx="5687568" cy="306324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86000"/>
              </a:lnSpc>
            </a:pPr>
            <a:r>
              <a:rPr sz="2700" b="1">
                <a:solidFill>
                  <a:srgbClr val="0F172A"/>
                </a:solidFill>
                <a:latin typeface="Arial"/>
              </a:rPr>
              <a:t>Разработка веб-приложения для продажи радио- и электронных компонентов со встроенными инструментами проектирования и симуляции схем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87568"/>
            <a:ext cx="5715000" cy="96012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0000"/>
              </a:lnSpc>
            </a:pPr>
            <a:r>
              <a:rPr sz="1850" b="1">
                <a:solidFill>
                  <a:srgbClr val="1E293B"/>
                </a:solidFill>
                <a:latin typeface="Arial"/>
              </a:rPr>
              <a:t>Автор: Буряко Дмитрий Сергеевич</a:t>
            </a:r>
          </a:p>
          <a:p>
            <a:pPr algn="l">
              <a:lnSpc>
                <a:spcPct val="90000"/>
              </a:lnSpc>
            </a:pPr>
            <a:r>
              <a:rPr sz="1850" b="1">
                <a:solidFill>
                  <a:srgbClr val="1E293B"/>
                </a:solidFill>
                <a:latin typeface="Arial"/>
              </a:rPr>
              <a:t>Руководитель: Буланов Сергей Георгиевич</a:t>
            </a:r>
          </a:p>
          <a:p>
            <a:pPr algn="l">
              <a:lnSpc>
                <a:spcPct val="90000"/>
              </a:lnSpc>
            </a:pPr>
            <a:r>
              <a:rPr sz="1850" b="1">
                <a:solidFill>
                  <a:srgbClr val="1E293B"/>
                </a:solidFill>
                <a:latin typeface="Arial"/>
              </a:rPr>
              <a:t>Год защиты: 2026</a:t>
            </a:r>
          </a:p>
        </p:txBody>
      </p:sp>
      <p:pic>
        <p:nvPicPr>
          <p:cNvPr id="12" name="Picture 11" descr="01_home_c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593668"/>
            <a:ext cx="6492240" cy="417358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2/20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Проблемы, цели и задачи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4069080" cy="48920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508760"/>
            <a:ext cx="4069080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673351"/>
            <a:ext cx="373989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Проблемы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295144"/>
            <a:ext cx="3739896" cy="4050791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500" b="0">
                <a:solidFill>
                  <a:srgbClr val="1E293B"/>
                </a:solidFill>
                <a:latin typeface="Arial"/>
              </a:rPr>
              <a:t>Каталог, datasheet, CAD, SPICE, BOM и заказ часто существуют отдельно.</a:t>
            </a:r>
          </a:p>
          <a:p>
            <a:pPr algn="l">
              <a:lnSpc>
                <a:spcPct val="92000"/>
              </a:lnSpc>
            </a:pPr>
            <a:r>
              <a:rPr sz="2500" b="0">
                <a:solidFill>
                  <a:srgbClr val="1E293B"/>
                </a:solidFill>
                <a:latin typeface="Arial"/>
              </a:rPr>
              <a:t/>
            </a:r>
          </a:p>
          <a:p>
            <a:pPr algn="l">
              <a:lnSpc>
                <a:spcPct val="92000"/>
              </a:lnSpc>
            </a:pPr>
            <a:r>
              <a:rPr sz="2500" b="0">
                <a:solidFill>
                  <a:srgbClr val="1E293B"/>
                </a:solidFill>
                <a:latin typeface="Arial"/>
              </a:rPr>
              <a:t>Номиналы, модели и результаты приходится переносить вручную.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85232" y="1508760"/>
            <a:ext cx="4069080" cy="48920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85232" y="1508760"/>
            <a:ext cx="4069080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9824" y="1673351"/>
            <a:ext cx="373989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Цель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9824" y="2295144"/>
            <a:ext cx="3739896" cy="4050791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500" b="0">
                <a:solidFill>
                  <a:srgbClr val="1E293B"/>
                </a:solidFill>
                <a:latin typeface="Arial"/>
              </a:rPr>
              <a:t>Разработать веб-приложение для продажи радио- и электронных компонентов со встроенными инструментами проектирования и симуляции схем.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93808" y="1508760"/>
            <a:ext cx="4069080" cy="48920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893808" y="1508760"/>
            <a:ext cx="406908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0" y="1673351"/>
            <a:ext cx="373989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Задачи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2295144"/>
            <a:ext cx="3739896" cy="4050791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500" b="0">
                <a:solidFill>
                  <a:srgbClr val="1E293B"/>
                </a:solidFill>
                <a:latin typeface="Arial"/>
              </a:rPr>
              <a:t>Каталог и заказы.</a:t>
            </a:r>
          </a:p>
          <a:p>
            <a:pPr algn="l">
              <a:lnSpc>
                <a:spcPct val="92000"/>
              </a:lnSpc>
            </a:pPr>
            <a:r>
              <a:rPr sz="2500" b="0">
                <a:solidFill>
                  <a:srgbClr val="1E293B"/>
                </a:solidFill>
                <a:latin typeface="Arial"/>
              </a:rPr>
              <a:t>CAD/SIM.</a:t>
            </a:r>
          </a:p>
          <a:p>
            <a:pPr algn="l">
              <a:lnSpc>
                <a:spcPct val="92000"/>
              </a:lnSpc>
            </a:pPr>
            <a:r>
              <a:rPr sz="2500" b="0">
                <a:solidFill>
                  <a:srgbClr val="1E293B"/>
                </a:solidFill>
                <a:latin typeface="Arial"/>
              </a:rPr>
              <a:t>Лаборатория.</a:t>
            </a:r>
          </a:p>
          <a:p>
            <a:pPr algn="l">
              <a:lnSpc>
                <a:spcPct val="92000"/>
              </a:lnSpc>
            </a:pPr>
            <a:r>
              <a:rPr sz="2500" b="0">
                <a:solidFill>
                  <a:srgbClr val="1E293B"/>
                </a:solidFill>
                <a:latin typeface="Arial"/>
              </a:rPr>
              <a:t>Обучение.</a:t>
            </a:r>
          </a:p>
          <a:p>
            <a:pPr algn="l">
              <a:lnSpc>
                <a:spcPct val="92000"/>
              </a:lnSpc>
            </a:pPr>
            <a:r>
              <a:rPr sz="2500" b="0">
                <a:solidFill>
                  <a:srgbClr val="1E293B"/>
                </a:solidFill>
                <a:latin typeface="Arial"/>
              </a:rPr>
              <a:t>Review.</a:t>
            </a:r>
          </a:p>
          <a:p>
            <a:pPr algn="l">
              <a:lnSpc>
                <a:spcPct val="92000"/>
              </a:lnSpc>
            </a:pPr>
            <a:r>
              <a:rPr sz="2500" b="0">
                <a:solidFill>
                  <a:srgbClr val="1E293B"/>
                </a:solidFill>
                <a:latin typeface="Arial"/>
              </a:rPr>
              <a:t>Качество данных.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3/20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Анализ решений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335024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937760"/>
                <a:gridCol w="5303520"/>
              </a:tblGrid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Что хорошо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Чего не хватает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Arial"/>
                        </a:rPr>
                        <a:t>Маркетплейсы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Arial"/>
                        </a:rPr>
                        <a:t>поиск, цена, заказ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Arial"/>
                        </a:rPr>
                        <a:t>нет проверки схемы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Arial"/>
                        </a:rPr>
                        <a:t>Онлайн-симуляторы</a:t>
                      </a:r>
                    </a:p>
                  </a:txBody>
                  <a:tcPr>
                    <a:solidFill>
                      <a:srgbClr val="E2EA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Arial"/>
                        </a:rPr>
                        <a:t>быстрый эксперимент</a:t>
                      </a:r>
                    </a:p>
                  </a:txBody>
                  <a:tcPr>
                    <a:solidFill>
                      <a:srgbClr val="E2EA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Arial"/>
                        </a:rPr>
                        <a:t>слабая связь с товарами</a:t>
                      </a:r>
                    </a:p>
                  </a:txBody>
                  <a:tcPr>
                    <a:solidFill>
                      <a:srgbClr val="E2EAF2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Arial"/>
                        </a:rPr>
                        <a:t>KiCad / Altium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Arial"/>
                        </a:rPr>
                        <a:t>EDA workflow, DRC/ERC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Arial"/>
                        </a:rPr>
                        <a:t>высокий порог входа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Arial"/>
                        </a:rPr>
                        <a:t>AI-CAD</a:t>
                      </a:r>
                    </a:p>
                  </a:txBody>
                  <a:tcPr>
                    <a:solidFill>
                      <a:srgbClr val="E2EA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Arial"/>
                        </a:rPr>
                        <a:t>подсказки по проекту</a:t>
                      </a:r>
                    </a:p>
                  </a:txBody>
                  <a:tcPr>
                    <a:solidFill>
                      <a:srgbClr val="E2EA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Arial"/>
                        </a:rPr>
                        <a:t>нужны проверяемые факты</a:t>
                      </a:r>
                    </a:p>
                  </a:txBody>
                  <a:tcPr>
                    <a:solidFill>
                      <a:srgbClr val="E2EA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1417320"/>
            <a:ext cx="2606040" cy="1234440"/>
          </a:xfrm>
          <a:prstGeom prst="rect">
            <a:avLst/>
          </a:prstGeom>
          <a:solidFill>
            <a:srgbClr val="EEF5F9"/>
          </a:solidFill>
          <a:ln w="25400">
            <a:solidFill>
              <a:srgbClr val="00A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09728" tIns="91440" bIns="73152"/>
          <a:lstStyle/>
          <a:p>
            <a:pPr algn="ctr"/>
            <a:r>
              <a:rPr sz="2200" b="1">
                <a:solidFill>
                  <a:srgbClr val="081C38"/>
                </a:solidFill>
                <a:latin typeface="Arial"/>
              </a:rPr>
              <a:t>Маркетплейсы</a:t>
            </a:r>
          </a:p>
          <a:p>
            <a:r>
              <a:rPr sz="1700">
                <a:solidFill>
                  <a:srgbClr val="2D4056"/>
                </a:solidFill>
                <a:latin typeface="Arial"/>
              </a:rPr>
              <a:t>сильны в продаже, но не проверяют схему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417320"/>
            <a:ext cx="2606040" cy="1234440"/>
          </a:xfrm>
          <a:prstGeom prst="rect">
            <a:avLst/>
          </a:prstGeom>
          <a:solidFill>
            <a:srgbClr val="EEF5F9"/>
          </a:solidFill>
          <a:ln w="25400">
            <a:solidFill>
              <a:srgbClr val="29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09728" tIns="91440" bIns="73152"/>
          <a:lstStyle/>
          <a:p>
            <a:pPr algn="ctr"/>
            <a:r>
              <a:rPr sz="2200" b="1">
                <a:solidFill>
                  <a:srgbClr val="081C38"/>
                </a:solidFill>
                <a:latin typeface="Arial"/>
              </a:rPr>
              <a:t>Online CAD/SIM</a:t>
            </a:r>
          </a:p>
          <a:p>
            <a:r>
              <a:rPr sz="1700">
                <a:solidFill>
                  <a:srgbClr val="2D4056"/>
                </a:solidFill>
                <a:latin typeface="Arial"/>
              </a:rPr>
              <a:t>дают моделирование, но слабо связаны с заказом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417320"/>
            <a:ext cx="2606040" cy="1234440"/>
          </a:xfrm>
          <a:prstGeom prst="rect">
            <a:avLst/>
          </a:prstGeom>
          <a:solidFill>
            <a:srgbClr val="EEF5F9"/>
          </a:solidFill>
          <a:ln w="25400">
            <a:solidFill>
              <a:srgbClr val="28A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09728" tIns="91440" bIns="73152"/>
          <a:lstStyle/>
          <a:p>
            <a:pPr algn="ctr"/>
            <a:r>
              <a:rPr sz="2200" b="1">
                <a:solidFill>
                  <a:srgbClr val="081C38"/>
                </a:solidFill>
                <a:latin typeface="Arial"/>
              </a:rPr>
              <a:t>KiCad / Altium</a:t>
            </a:r>
          </a:p>
          <a:p>
            <a:r>
              <a:rPr sz="1700">
                <a:solidFill>
                  <a:srgbClr val="2D4056"/>
                </a:solidFill>
                <a:latin typeface="Arial"/>
              </a:rPr>
              <a:t>промышленный CAD, но отдельно от магазина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89720" y="1417320"/>
            <a:ext cx="2331720" cy="1234440"/>
          </a:xfrm>
          <a:prstGeom prst="rect">
            <a:avLst/>
          </a:prstGeom>
          <a:solidFill>
            <a:srgbClr val="EEF5F9"/>
          </a:solidFill>
          <a:ln w="25400">
            <a:solidFill>
              <a:srgbClr val="F178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09728" tIns="91440" bIns="73152"/>
          <a:lstStyle/>
          <a:p>
            <a:pPr algn="ctr"/>
            <a:r>
              <a:rPr sz="2200" b="1">
                <a:solidFill>
                  <a:srgbClr val="081C38"/>
                </a:solidFill>
                <a:latin typeface="Arial"/>
              </a:rPr>
              <a:t>Lithium ECAD</a:t>
            </a:r>
          </a:p>
          <a:p>
            <a:r>
              <a:rPr sz="1700">
                <a:solidFill>
                  <a:srgbClr val="2D4056"/>
                </a:solidFill>
                <a:latin typeface="Arial"/>
              </a:rPr>
              <a:t>синхронизация, уровни цепей, функциональные блоки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886200"/>
            <a:ext cx="10835640" cy="1005840"/>
          </a:xfrm>
          <a:prstGeom prst="rect">
            <a:avLst/>
          </a:prstGeom>
          <a:solidFill>
            <a:srgbClr val="DFEEF4"/>
          </a:solidFill>
          <a:ln w="25400">
            <a:solidFill>
              <a:srgbClr val="00A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/>
          <a:lstStyle/>
          <a:p>
            <a:pPr algn="ctr"/>
            <a:r>
              <a:rPr sz="2600" b="1">
                <a:solidFill>
                  <a:srgbClr val="08223E"/>
                </a:solidFill>
                <a:latin typeface="Arial"/>
              </a:rPr>
              <a:t>Ниша DOLG: компонент → расчет → схема → симуляция → review → BOM → заказ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4/20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Функции системы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4069080" cy="15087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4069080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08760"/>
            <a:ext cx="384962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rial"/>
              </a:rPr>
              <a:t>Каталог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3849624" cy="905255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карточки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фильтры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параметры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57800" y="1325880"/>
            <a:ext cx="4069080" cy="15087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57800" y="1325880"/>
            <a:ext cx="406908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67528" y="1508760"/>
            <a:ext cx="384962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rial"/>
              </a:rPr>
              <a:t>Knowledge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1874519"/>
            <a:ext cx="3849624" cy="905255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статьи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материалы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обучение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19" y="1325880"/>
            <a:ext cx="4069080" cy="15087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875519" y="1325880"/>
            <a:ext cx="406908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85247" y="1508760"/>
            <a:ext cx="384962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rial"/>
              </a:rPr>
              <a:t>Лаборатория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85247" y="1874519"/>
            <a:ext cx="3849624" cy="905255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расчеты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оценки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метрики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91839"/>
            <a:ext cx="4069080" cy="15087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291839"/>
            <a:ext cx="4069080" cy="10972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474720"/>
            <a:ext cx="384962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rial"/>
              </a:rPr>
              <a:t>CAD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840479"/>
            <a:ext cx="3849624" cy="905255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схема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GND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экспорт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57800" y="3291839"/>
            <a:ext cx="4069080" cy="15087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57800" y="3291839"/>
            <a:ext cx="4069080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67528" y="3474720"/>
            <a:ext cx="384962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rial"/>
              </a:rPr>
              <a:t>SIM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3840479"/>
            <a:ext cx="3849624" cy="905255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DC / AC / TRAN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FFT / Bode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Monte Carlo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75519" y="3291839"/>
            <a:ext cx="4069080" cy="15087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75519" y="3291839"/>
            <a:ext cx="4069080" cy="10972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85247" y="3474720"/>
            <a:ext cx="384962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85247" y="3840479"/>
            <a:ext cx="3849624" cy="905255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DRC/ERC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BOM risk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findings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257800"/>
            <a:ext cx="4069080" cy="15087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257800"/>
            <a:ext cx="4069080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440680"/>
            <a:ext cx="384962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rial"/>
              </a:rPr>
              <a:t>Import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5806440"/>
            <a:ext cx="3849624" cy="905255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LTspice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SPICE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KiCad subset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57800" y="5257800"/>
            <a:ext cx="4069080" cy="15087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257800" y="5257800"/>
            <a:ext cx="406908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67528" y="5440680"/>
            <a:ext cx="384962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rial"/>
              </a:rPr>
              <a:t>Заказ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67528" y="5806440"/>
            <a:ext cx="3849624" cy="905255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BOM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XLSX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корзина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5257800"/>
            <a:ext cx="4069080" cy="15087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75519" y="5257800"/>
            <a:ext cx="406908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85247" y="5440680"/>
            <a:ext cx="384962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rial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85247" y="5806440"/>
            <a:ext cx="3849624" cy="905255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правила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факты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подсказки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5/20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Архитектура: приложения и данные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4251960" cy="530352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325880"/>
            <a:ext cx="4251960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90472"/>
            <a:ext cx="392277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Django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112264"/>
            <a:ext cx="3922776" cy="446227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shop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accounts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orders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knowledge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Dolg_APP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30368" y="1325880"/>
            <a:ext cx="4251960" cy="530352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30368" y="1325880"/>
            <a:ext cx="425196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59" y="1490472"/>
            <a:ext cx="392277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59" y="2112264"/>
            <a:ext cx="3922776" cy="446227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товары</a:t>
            </a:r>
          </a:p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схемы</a:t>
            </a:r>
          </a:p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измерения</a:t>
            </a:r>
          </a:p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уроки</a:t>
            </a:r>
          </a:p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review snapshots</a:t>
            </a:r>
          </a:p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заказы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84080" y="1325880"/>
            <a:ext cx="4160520" cy="530352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0" y="1325880"/>
            <a:ext cx="4160520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48672" y="1490472"/>
            <a:ext cx="3831335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Контуры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2112264"/>
            <a:ext cx="3831335" cy="446227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каталог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проектирование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симуляция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обучение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коммерция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6/20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Архитектура: service-layer и библиотеки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2514600" cy="96012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17320"/>
            <a:ext cx="2514600" cy="10972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764792"/>
            <a:ext cx="2377439" cy="54864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500" b="1">
                <a:solidFill>
                  <a:srgbClr val="0F172A"/>
                </a:solidFill>
                <a:latin typeface="Arial"/>
              </a:rPr>
              <a:t>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687" y="1810512"/>
            <a:ext cx="146304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891B2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1" y="1417320"/>
            <a:ext cx="2514600" cy="96012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8144" y="1764792"/>
            <a:ext cx="2377439" cy="54864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500" b="1">
                <a:solidFill>
                  <a:srgbClr val="0F172A"/>
                </a:solidFill>
                <a:latin typeface="Arial"/>
              </a:rPr>
              <a:t>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59" y="1810512"/>
            <a:ext cx="146304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891B2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1417320"/>
            <a:ext cx="2514600" cy="96012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764792"/>
            <a:ext cx="2377439" cy="54864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500" b="1">
                <a:solidFill>
                  <a:srgbClr val="0F172A"/>
                </a:solidFill>
                <a:latin typeface="Arial"/>
              </a:rPr>
              <a:t>Libraries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5632" y="1810512"/>
            <a:ext cx="146304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891B2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31936" y="1417320"/>
            <a:ext cx="2514600" cy="96012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05088" y="1764792"/>
            <a:ext cx="2377439" cy="54864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500" b="1">
                <a:solidFill>
                  <a:srgbClr val="0F172A"/>
                </a:solidFill>
                <a:latin typeface="Arial"/>
              </a:rPr>
              <a:t>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19104" y="1810512"/>
            <a:ext cx="146304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891B2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265408" y="1417320"/>
            <a:ext cx="2514600" cy="96012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38560" y="1764792"/>
            <a:ext cx="2377439" cy="54864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500" b="1">
                <a:solidFill>
                  <a:srgbClr val="0F172A"/>
                </a:solidFill>
                <a:latin typeface="Arial"/>
              </a:rPr>
              <a:t>Reports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788920"/>
            <a:ext cx="3931920" cy="31089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2788920"/>
            <a:ext cx="3931920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2953512"/>
            <a:ext cx="360273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Scientific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3575303"/>
            <a:ext cx="3602736" cy="226771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600" b="0">
                <a:solidFill>
                  <a:srgbClr val="1E293B"/>
                </a:solidFill>
                <a:latin typeface="Arial"/>
              </a:rPr>
              <a:t>• NumPy</a:t>
            </a:r>
          </a:p>
          <a:p>
            <a:pPr algn="l">
              <a:lnSpc>
                <a:spcPct val="92000"/>
              </a:lnSpc>
            </a:pPr>
            <a:r>
              <a:rPr sz="2600" b="0">
                <a:solidFill>
                  <a:srgbClr val="1E293B"/>
                </a:solidFill>
                <a:latin typeface="Arial"/>
              </a:rPr>
              <a:t>• SciPy</a:t>
            </a:r>
          </a:p>
          <a:p>
            <a:pPr algn="l">
              <a:lnSpc>
                <a:spcPct val="92000"/>
              </a:lnSpc>
            </a:pPr>
            <a:r>
              <a:rPr sz="2600" b="0">
                <a:solidFill>
                  <a:srgbClr val="1E293B"/>
                </a:solidFill>
                <a:latin typeface="Arial"/>
              </a:rPr>
              <a:t>• Matplotlib</a:t>
            </a:r>
          </a:p>
          <a:p>
            <a:pPr algn="l">
              <a:lnSpc>
                <a:spcPct val="92000"/>
              </a:lnSpc>
            </a:pPr>
            <a:r>
              <a:rPr sz="2600" b="0">
                <a:solidFill>
                  <a:srgbClr val="1E293B"/>
                </a:solidFill>
                <a:latin typeface="Arial"/>
              </a:rPr>
              <a:t>• Pandas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9240" y="2788920"/>
            <a:ext cx="3931920" cy="31089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49240" y="2788920"/>
            <a:ext cx="393192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13831" y="2953512"/>
            <a:ext cx="360273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Graph / Formula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3831" y="3575303"/>
            <a:ext cx="3602736" cy="226771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600" b="0">
                <a:solidFill>
                  <a:srgbClr val="1E293B"/>
                </a:solidFill>
                <a:latin typeface="Arial"/>
              </a:rPr>
              <a:t>• NetworkX</a:t>
            </a:r>
          </a:p>
          <a:p>
            <a:pPr algn="l">
              <a:lnSpc>
                <a:spcPct val="92000"/>
              </a:lnSpc>
            </a:pPr>
            <a:r>
              <a:rPr sz="2600" b="0">
                <a:solidFill>
                  <a:srgbClr val="1E293B"/>
                </a:solidFill>
                <a:latin typeface="Arial"/>
              </a:rPr>
              <a:t>• SymPy</a:t>
            </a:r>
          </a:p>
          <a:p>
            <a:pPr algn="l">
              <a:lnSpc>
                <a:spcPct val="92000"/>
              </a:lnSpc>
            </a:pPr>
            <a:r>
              <a:rPr sz="2600" b="0">
                <a:solidFill>
                  <a:srgbClr val="1E293B"/>
                </a:solidFill>
                <a:latin typeface="Arial"/>
              </a:rPr>
              <a:t>• Schemdraw</a:t>
            </a:r>
          </a:p>
          <a:p>
            <a:pPr algn="l">
              <a:lnSpc>
                <a:spcPct val="92000"/>
              </a:lnSpc>
            </a:pPr>
            <a:r>
              <a:rPr sz="2600" b="0">
                <a:solidFill>
                  <a:srgbClr val="1E293B"/>
                </a:solidFill>
                <a:latin typeface="Arial"/>
              </a:rPr>
              <a:t>• Pint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66960" y="2788920"/>
            <a:ext cx="3931920" cy="31089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66960" y="2788920"/>
            <a:ext cx="3931920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1552" y="2953512"/>
            <a:ext cx="360273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Expert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31552" y="3575303"/>
            <a:ext cx="3602736" cy="226771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jsonschema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rule-engine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Lark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Z3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scikit-fuzzy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7/20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Каталог</a:t>
            </a:r>
          </a:p>
        </p:txBody>
      </p:sp>
      <p:pic>
        <p:nvPicPr>
          <p:cNvPr id="7" name="Picture 6" descr="01_catalog_cards_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21904"/>
            <a:ext cx="8458200" cy="52863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253728" y="1234440"/>
            <a:ext cx="4709160" cy="544068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53728" y="1234440"/>
            <a:ext cx="4709160" cy="10972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19" y="1399032"/>
            <a:ext cx="437997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Функции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19" y="2020824"/>
            <a:ext cx="4379976" cy="459943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100" b="0">
                <a:solidFill>
                  <a:srgbClr val="122340"/>
                </a:solidFill>
                <a:latin typeface="Arial"/>
              </a:rPr>
              <a:t>• 364 карточки товаров</a:t>
            </a:r>
          </a:p>
          <a:p>
            <a:r>
              <a:rPr sz="2100" b="0">
                <a:solidFill>
                  <a:srgbClr val="122340"/>
                </a:solidFill>
                <a:latin typeface="Arial"/>
              </a:rPr>
              <a:t>• 227 РЭБ-компонентов</a:t>
            </a:r>
          </a:p>
          <a:p>
            <a:r>
              <a:rPr sz="2100" b="0">
                <a:solidFill>
                  <a:srgbClr val="122340"/>
                </a:solidFill>
                <a:latin typeface="Arial"/>
              </a:rPr>
              <a:t>• активные chips → фильтры</a:t>
            </a:r>
          </a:p>
          <a:p>
            <a:r>
              <a:rPr sz="2100" b="0">
                <a:solidFill>
                  <a:srgbClr val="122340"/>
                </a:solidFill>
                <a:latin typeface="Arial"/>
              </a:rPr>
              <a:t>• unit-aware поиск</a:t>
            </a:r>
          </a:p>
          <a:p>
            <a:r>
              <a:rPr sz="2100" b="0">
                <a:solidFill>
                  <a:srgbClr val="122340"/>
                </a:solidFill>
                <a:latin typeface="Arial"/>
              </a:rPr>
              <a:t>• 79 verified photos; media quality 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8/20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Knowledge и обучение</a:t>
            </a:r>
          </a:p>
        </p:txBody>
      </p:sp>
      <p:pic>
        <p:nvPicPr>
          <p:cNvPr id="7" name="Picture 6" descr="08_knowledge_article_mater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19942"/>
            <a:ext cx="7680960" cy="34696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49640" y="1417320"/>
            <a:ext cx="1600200" cy="10515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49640" y="1417320"/>
            <a:ext cx="1600200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9367" y="1600200"/>
            <a:ext cx="138074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9367" y="1965960"/>
            <a:ext cx="1380744" cy="448055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r>
              <a:t>статьи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78440" y="1417320"/>
            <a:ext cx="1600200" cy="10515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78440" y="1417320"/>
            <a:ext cx="1600200" cy="10972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88167" y="1600200"/>
            <a:ext cx="138074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r>
              <a:t>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88167" y="1965960"/>
            <a:ext cx="1380744" cy="448055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r>
              <a:t>материалов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07240" y="1417320"/>
            <a:ext cx="1600200" cy="10515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207240" y="1417320"/>
            <a:ext cx="160020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16967" y="1600200"/>
            <a:ext cx="138074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16967" y="1965960"/>
            <a:ext cx="1380744" cy="448055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r>
              <a:t>заданий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2971800"/>
            <a:ext cx="5303520" cy="28346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49640" y="2971800"/>
            <a:ext cx="5303520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14232" y="3136392"/>
            <a:ext cx="497433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Типы заданий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14232" y="3758184"/>
            <a:ext cx="4974336" cy="199339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E293B"/>
                </a:solidFill>
                <a:latin typeface="Arial"/>
              </a:rPr>
              <a:t>• числовой ответ</a:t>
            </a:r>
          </a:p>
          <a:p>
            <a:pPr algn="l">
              <a:lnSpc>
                <a:spcPct val="92000"/>
              </a:lnSpc>
            </a:pPr>
            <a:r>
              <a:rPr sz="2800" b="0">
                <a:solidFill>
                  <a:srgbClr val="1E293B"/>
                </a:solidFill>
                <a:latin typeface="Arial"/>
              </a:rPr>
              <a:t>• сборка схемы</a:t>
            </a:r>
          </a:p>
          <a:p>
            <a:pPr algn="l">
              <a:lnSpc>
                <a:spcPct val="92000"/>
              </a:lnSpc>
            </a:pPr>
            <a:r>
              <a:rPr sz="2800" b="0">
                <a:solidFill>
                  <a:srgbClr val="1E293B"/>
                </a:solidFill>
                <a:latin typeface="Arial"/>
              </a:rPr>
              <a:t>• измерение симуляции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9/20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Инженерная лаборатория</a:t>
            </a:r>
          </a:p>
        </p:txBody>
      </p:sp>
      <p:pic>
        <p:nvPicPr>
          <p:cNvPr id="7" name="Picture 6" descr="02_engineering_lab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08747"/>
            <a:ext cx="8732520" cy="545782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555480" y="1234440"/>
            <a:ext cx="4389120" cy="30632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55480" y="1234440"/>
            <a:ext cx="4389120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20072" y="1399032"/>
            <a:ext cx="4059935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Расчеты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20072" y="2020824"/>
            <a:ext cx="4059935" cy="222199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NE555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стабилизатор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транзисторный ключ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тепловой запас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RC-антидребезг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55480" y="4617720"/>
            <a:ext cx="4389120" cy="21488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555480" y="4617720"/>
            <a:ext cx="4389120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20072" y="4782312"/>
            <a:ext cx="4059935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Оценки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0072" y="5404104"/>
            <a:ext cx="4059935" cy="130759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000" b="0">
                <a:solidFill>
                  <a:srgbClr val="1E293B"/>
                </a:solidFill>
                <a:latin typeface="Arial"/>
              </a:rPr>
              <a:t>• норма</a:t>
            </a:r>
          </a:p>
          <a:p>
            <a:pPr algn="l">
              <a:lnSpc>
                <a:spcPct val="92000"/>
              </a:lnSpc>
            </a:pPr>
            <a:r>
              <a:rPr sz="2000" b="0">
                <a:solidFill>
                  <a:srgbClr val="1E293B"/>
                </a:solidFill>
                <a:latin typeface="Arial"/>
              </a:rPr>
              <a:t>• риск</a:t>
            </a:r>
          </a:p>
          <a:p>
            <a:pPr algn="l">
              <a:lnSpc>
                <a:spcPct val="92000"/>
              </a:lnSpc>
            </a:pPr>
            <a:r>
              <a:rPr sz="2000" b="0">
                <a:solidFill>
                  <a:srgbClr val="1E293B"/>
                </a:solidFill>
                <a:latin typeface="Arial"/>
              </a:rPr>
              <a:t>• перегрев</a:t>
            </a:r>
          </a:p>
          <a:p>
            <a:pPr algn="l">
              <a:lnSpc>
                <a:spcPct val="92000"/>
              </a:lnSpc>
            </a:pPr>
            <a:r>
              <a:rPr sz="2000" b="0">
                <a:solidFill>
                  <a:srgbClr val="1E293B"/>
                </a:solidFill>
                <a:latin typeface="Arial"/>
              </a:rPr>
              <a:t>• нужен запас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10/20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CAD-редактор</a:t>
            </a:r>
          </a:p>
        </p:txBody>
      </p:sp>
      <p:pic>
        <p:nvPicPr>
          <p:cNvPr id="7" name="Picture 6" descr="03_cad_editor_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051560"/>
            <a:ext cx="9948672" cy="6217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972800" y="1234440"/>
            <a:ext cx="2926080" cy="525780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0" y="1234440"/>
            <a:ext cx="2926080" cy="10972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37392" y="1399032"/>
            <a:ext cx="259689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Режим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37392" y="2020824"/>
            <a:ext cx="2596896" cy="441655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GND</a:t>
            </a:r>
          </a:p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источник</a:t>
            </a:r>
          </a:p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components</a:t>
            </a:r>
          </a:p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wires</a:t>
            </a:r>
          </a:p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labels</a:t>
            </a:r>
          </a:p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export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11/20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Симуляция и измерения</a:t>
            </a:r>
          </a:p>
        </p:txBody>
      </p:sp>
      <p:pic>
        <p:nvPicPr>
          <p:cNvPr id="7" name="Picture 6" descr="04_simulation_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00175"/>
            <a:ext cx="8686800" cy="54292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509760" y="1143000"/>
            <a:ext cx="4389120" cy="233172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09760" y="1143000"/>
            <a:ext cx="4389120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74352" y="1307592"/>
            <a:ext cx="4059935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Анализы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4352" y="1929384"/>
            <a:ext cx="4059935" cy="149047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DC / OP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AC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TRAN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0" y="3794760"/>
            <a:ext cx="4389120" cy="30632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509760" y="3794760"/>
            <a:ext cx="438912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4352" y="3959352"/>
            <a:ext cx="4059935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Метрики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74352" y="4581144"/>
            <a:ext cx="4059935" cy="222199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напряжение узла</a:t>
            </a:r>
          </a:p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ток ветви</a:t>
            </a:r>
          </a:p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RMS / частота / duty</a:t>
            </a:r>
          </a:p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мощность / температура</a:t>
            </a:r>
          </a:p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expected vs measured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12/20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Pro-аналитика</a:t>
            </a:r>
          </a:p>
        </p:txBody>
      </p:sp>
      <p:pic>
        <p:nvPicPr>
          <p:cNvPr id="7" name="Picture 6" descr="02_simulation_ac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3222"/>
            <a:ext cx="8778240" cy="564315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646920" y="1325880"/>
            <a:ext cx="4251960" cy="26060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46920" y="1325880"/>
            <a:ext cx="4251960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11512" y="1490472"/>
            <a:ext cx="392277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Возможности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1512" y="2112264"/>
            <a:ext cx="3922776" cy="176479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FFT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Bode plot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Monte Carlo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parameter sweep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46920" y="4343400"/>
            <a:ext cx="4251960" cy="233172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646920" y="4343400"/>
            <a:ext cx="425196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11512" y="4507992"/>
            <a:ext cx="392277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Стек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1512" y="5129784"/>
            <a:ext cx="3922776" cy="149047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NumPy / SciPy</a:t>
            </a:r>
          </a:p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Matplotlib / Pandas</a:t>
            </a:r>
          </a:p>
          <a:p>
            <a:pPr algn="l">
              <a:lnSpc>
                <a:spcPct val="92000"/>
              </a:lnSpc>
            </a:pPr>
            <a:r>
              <a:rPr sz="2100" b="0">
                <a:solidFill>
                  <a:srgbClr val="1E293B"/>
                </a:solidFill>
                <a:latin typeface="Arial"/>
              </a:rPr>
              <a:t>• scientific stack OK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13/20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Экспертные уровни контроля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2121408" cy="109728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417320"/>
            <a:ext cx="212140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764792"/>
            <a:ext cx="1984248" cy="6858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300" b="1">
                <a:solidFill>
                  <a:srgbClr val="0F172A"/>
                </a:solidFill>
                <a:latin typeface="Arial"/>
              </a:rPr>
              <a:t>Правила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88335" y="1810512"/>
            <a:ext cx="146304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39" y="1417320"/>
            <a:ext cx="2121408" cy="109728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1" y="1764792"/>
            <a:ext cx="1984248" cy="6858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300" b="1">
                <a:solidFill>
                  <a:srgbClr val="0F172A"/>
                </a:solidFill>
                <a:latin typeface="Arial"/>
              </a:rPr>
              <a:t>Граф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8615" y="1810512"/>
            <a:ext cx="146304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1417320"/>
            <a:ext cx="2121408" cy="109728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072" y="1764792"/>
            <a:ext cx="1984248" cy="6858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300" b="1">
                <a:solidFill>
                  <a:srgbClr val="0F172A"/>
                </a:solidFill>
                <a:latin typeface="Arial"/>
              </a:rPr>
              <a:t>Формулы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8896" y="1810512"/>
            <a:ext cx="146304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1417320"/>
            <a:ext cx="2121408" cy="109728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88352" y="1764792"/>
            <a:ext cx="1984248" cy="6858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300" b="1">
                <a:solidFill>
                  <a:srgbClr val="0F172A"/>
                </a:solidFill>
                <a:latin typeface="Arial"/>
              </a:rPr>
              <a:t>Расчет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1810512"/>
            <a:ext cx="146304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55480" y="1417320"/>
            <a:ext cx="2121408" cy="109728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28632" y="1764792"/>
            <a:ext cx="1984248" cy="6858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300" b="1">
                <a:solidFill>
                  <a:srgbClr val="0F172A"/>
                </a:solidFill>
                <a:latin typeface="Arial"/>
              </a:rPr>
              <a:t>AI-подсказка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49455" y="1810512"/>
            <a:ext cx="146304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795759" y="1417320"/>
            <a:ext cx="2121408" cy="109728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68911" y="1764792"/>
            <a:ext cx="1984248" cy="6858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300" b="1">
                <a:solidFill>
                  <a:srgbClr val="0F172A"/>
                </a:solidFill>
                <a:latin typeface="Arial"/>
              </a:rPr>
              <a:t>Человек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063240"/>
            <a:ext cx="3840480" cy="26517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0120" y="3063240"/>
            <a:ext cx="3840480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4712" y="3227832"/>
            <a:ext cx="351129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Arial"/>
              </a:rPr>
              <a:t>Проверяемые факты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" y="3849624"/>
            <a:ext cx="3511296" cy="181051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300" b="0">
                <a:solidFill>
                  <a:srgbClr val="1E293B"/>
                </a:solidFill>
                <a:latin typeface="Arial"/>
              </a:rPr>
              <a:t>GND, источник, номиналы, связи, BOM, измерения.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4960" y="3063240"/>
            <a:ext cx="3840480" cy="26517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394960" y="3063240"/>
            <a:ext cx="3840480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59552" y="3227832"/>
            <a:ext cx="351129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Arial"/>
              </a:rPr>
              <a:t>Автоматический вывод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9552" y="3849624"/>
            <a:ext cx="3511296" cy="181051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300" b="0">
                <a:solidFill>
                  <a:srgbClr val="1E293B"/>
                </a:solidFill>
                <a:latin typeface="Arial"/>
              </a:rPr>
              <a:t>findings, риски, рекомендации, подбор вариантов.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3063240"/>
            <a:ext cx="3840480" cy="26517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29800" y="3063240"/>
            <a:ext cx="384048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94392" y="3227832"/>
            <a:ext cx="351129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Arial"/>
              </a:rPr>
              <a:t>Финальный контроль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94392" y="3849624"/>
            <a:ext cx="3511296" cy="181051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300" b="0">
                <a:solidFill>
                  <a:srgbClr val="1E293B"/>
                </a:solidFill>
                <a:latin typeface="Arial"/>
              </a:rPr>
              <a:t>Последнее решение всегда остается за человеком.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14/20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CAD-импорт и базы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2514600" cy="10058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17320"/>
            <a:ext cx="2514600" cy="10972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764792"/>
            <a:ext cx="2377439" cy="5943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300" b="1">
                <a:solidFill>
                  <a:srgbClr val="0F172A"/>
                </a:solidFill>
                <a:latin typeface="Arial"/>
              </a:rPr>
              <a:t>LTspice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687" y="1810512"/>
            <a:ext cx="146304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891B2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1" y="1417320"/>
            <a:ext cx="2514600" cy="10058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8144" y="1764792"/>
            <a:ext cx="2377439" cy="5943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300" b="1">
                <a:solidFill>
                  <a:srgbClr val="0F172A"/>
                </a:solidFill>
                <a:latin typeface="Arial"/>
              </a:rPr>
              <a:t>SPICE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59" y="1810512"/>
            <a:ext cx="146304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891B2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1417320"/>
            <a:ext cx="2514600" cy="10058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764792"/>
            <a:ext cx="2377439" cy="5943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300" b="1">
                <a:solidFill>
                  <a:srgbClr val="0F172A"/>
                </a:solidFill>
                <a:latin typeface="Arial"/>
              </a:rPr>
              <a:t>KiCad subset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5632" y="1810512"/>
            <a:ext cx="146304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891B2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31936" y="1417320"/>
            <a:ext cx="2514600" cy="10058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05088" y="1764792"/>
            <a:ext cx="2377439" cy="5943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300" b="1">
                <a:solidFill>
                  <a:srgbClr val="0F172A"/>
                </a:solidFill>
                <a:latin typeface="Arial"/>
              </a:rPr>
              <a:t>scheme_data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19104" y="1810512"/>
            <a:ext cx="146304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891B2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265408" y="1417320"/>
            <a:ext cx="2514600" cy="10058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38560" y="1764792"/>
            <a:ext cx="2377439" cy="5943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300" b="1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246120"/>
            <a:ext cx="2240280" cy="23774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246120"/>
            <a:ext cx="2240280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3429000"/>
            <a:ext cx="202082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rial"/>
              </a:rPr>
              <a:t>Компоненты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794759"/>
            <a:ext cx="2020824" cy="177393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параметры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наличие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карточки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01568" y="3246120"/>
            <a:ext cx="2240280" cy="23774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01568" y="3246120"/>
            <a:ext cx="224028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11296" y="3429000"/>
            <a:ext cx="202082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rial"/>
              </a:rPr>
              <a:t>SPICE / CAD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11296" y="3794759"/>
            <a:ext cx="2020824" cy="177393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модели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корпуса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netlist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71616" y="3246120"/>
            <a:ext cx="2240280" cy="23774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71616" y="3246120"/>
            <a:ext cx="2240280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81344" y="3429000"/>
            <a:ext cx="202082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rial"/>
              </a:rPr>
              <a:t>Правила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3794759"/>
            <a:ext cx="2020824" cy="177393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DRC/ERC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risk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findings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41664" y="3246120"/>
            <a:ext cx="2240280" cy="23774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41664" y="3246120"/>
            <a:ext cx="224028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51392" y="3429000"/>
            <a:ext cx="202082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rial"/>
              </a:rPr>
              <a:t>Знания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794759"/>
            <a:ext cx="2020824" cy="177393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статьи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материалы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формулы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11712" y="3246120"/>
            <a:ext cx="2240280" cy="23774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411712" y="3246120"/>
            <a:ext cx="2240280" cy="10972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521440" y="3429000"/>
            <a:ext cx="2020824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rial"/>
              </a:rPr>
              <a:t>Задания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521440" y="3794759"/>
            <a:ext cx="2020824" cy="177393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math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circuit</a:t>
            </a:r>
          </a:p>
          <a:p>
            <a:pPr algn="ctr"/>
            <a:r>
              <a:rPr sz="1650" b="0">
                <a:solidFill>
                  <a:srgbClr val="1E293B"/>
                </a:solidFill>
                <a:latin typeface="Arial"/>
              </a:rPr>
              <a:t>measure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15/20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BOM и заказ</a:t>
            </a:r>
          </a:p>
        </p:txBody>
      </p:sp>
      <p:pic>
        <p:nvPicPr>
          <p:cNvPr id="7" name="Picture 6" descr="07_product_related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867" y="1280160"/>
            <a:ext cx="6530945" cy="3154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52360" y="1234440"/>
            <a:ext cx="2971800" cy="438912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52360" y="1234440"/>
            <a:ext cx="297180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16952" y="1399032"/>
            <a:ext cx="264261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BOM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2" y="2020824"/>
            <a:ext cx="2642616" cy="354787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700" b="0">
                <a:solidFill>
                  <a:srgbClr val="1E293B"/>
                </a:solidFill>
                <a:latin typeface="Arial"/>
              </a:rPr>
              <a:t>• позиции схемы</a:t>
            </a:r>
          </a:p>
          <a:p>
            <a:pPr algn="l">
              <a:lnSpc>
                <a:spcPct val="92000"/>
              </a:lnSpc>
            </a:pPr>
            <a:r>
              <a:rPr sz="2700" b="0">
                <a:solidFill>
                  <a:srgbClr val="1E293B"/>
                </a:solidFill>
                <a:latin typeface="Arial"/>
              </a:rPr>
              <a:t>• подбор товара</a:t>
            </a:r>
          </a:p>
          <a:p>
            <a:pPr algn="l">
              <a:lnSpc>
                <a:spcPct val="92000"/>
              </a:lnSpc>
            </a:pPr>
            <a:r>
              <a:rPr sz="2700" b="0">
                <a:solidFill>
                  <a:srgbClr val="1E293B"/>
                </a:solidFill>
                <a:latin typeface="Arial"/>
              </a:rPr>
              <a:t>• XLSX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835640" y="1234440"/>
            <a:ext cx="2971800" cy="438912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35640" y="1234440"/>
            <a:ext cx="2971800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232" y="1399032"/>
            <a:ext cx="264261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Заказ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0232" y="2020824"/>
            <a:ext cx="2642616" cy="354787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700" b="0">
                <a:solidFill>
                  <a:srgbClr val="1E293B"/>
                </a:solidFill>
                <a:latin typeface="Arial"/>
              </a:rPr>
              <a:t>• корзина</a:t>
            </a:r>
          </a:p>
          <a:p>
            <a:pPr algn="l">
              <a:lnSpc>
                <a:spcPct val="92000"/>
              </a:lnSpc>
            </a:pPr>
            <a:r>
              <a:rPr sz="2700" b="0">
                <a:solidFill>
                  <a:srgbClr val="1E293B"/>
                </a:solidFill>
                <a:latin typeface="Arial"/>
              </a:rPr>
              <a:t>• остатки</a:t>
            </a:r>
          </a:p>
          <a:p>
            <a:pPr algn="l">
              <a:lnSpc>
                <a:spcPct val="92000"/>
              </a:lnSpc>
            </a:pPr>
            <a:r>
              <a:rPr sz="2700" b="0">
                <a:solidFill>
                  <a:srgbClr val="1E293B"/>
                </a:solidFill>
                <a:latin typeface="Arial"/>
              </a:rPr>
              <a:t>• checkout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5074920"/>
            <a:ext cx="2743200" cy="12344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74920"/>
            <a:ext cx="2743200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266944"/>
            <a:ext cx="2560320" cy="40233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3000" b="1">
                <a:solidFill>
                  <a:srgbClr val="2563EB"/>
                </a:solidFill>
                <a:latin typeface="Arial"/>
              </a:rPr>
              <a:t>3/3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5788152"/>
            <a:ext cx="2596896" cy="41148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850" b="1">
                <a:solidFill>
                  <a:srgbClr val="1E293B"/>
                </a:solidFill>
                <a:latin typeface="Arial"/>
              </a:rPr>
              <a:t>browser smoke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7639" y="5074920"/>
            <a:ext cx="2743200" cy="12344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77639" y="5074920"/>
            <a:ext cx="274320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9079" y="5266944"/>
            <a:ext cx="2560320" cy="40233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3000" b="1">
                <a:solidFill>
                  <a:srgbClr val="16A34A"/>
                </a:solidFill>
                <a:latin typeface="Arial"/>
              </a:rPr>
              <a:t>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0791" y="5788152"/>
            <a:ext cx="2596896" cy="41148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850" b="1">
                <a:solidFill>
                  <a:srgbClr val="1E293B"/>
                </a:solidFill>
                <a:latin typeface="Arial"/>
              </a:rPr>
              <a:t>order flow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16/20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Развитие проекта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6217920" cy="51663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17320"/>
            <a:ext cx="6217920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581912"/>
            <a:ext cx="588873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Ближайшее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03704"/>
            <a:ext cx="5888736" cy="432511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rgbClr val="122340"/>
                </a:solidFill>
                <a:latin typeface="Arial"/>
              </a:rPr>
              <a:t>• комментарии и модерация</a:t>
            </a:r>
          </a:p>
          <a:p>
            <a:r>
              <a:rPr sz="2200" b="0">
                <a:solidFill>
                  <a:srgbClr val="122340"/>
                </a:solidFill>
                <a:latin typeface="Arial"/>
              </a:rPr>
              <a:t>• measurement core</a:t>
            </a:r>
          </a:p>
          <a:p>
            <a:r>
              <a:rPr sz="2200" b="0">
                <a:solidFill>
                  <a:srgbClr val="122340"/>
                </a:solidFill>
                <a:latin typeface="Arial"/>
              </a:rPr>
              <a:t>• official image/API sources</a:t>
            </a:r>
          </a:p>
          <a:p>
            <a:r>
              <a:rPr sz="2200" b="0">
                <a:solidFill>
                  <a:srgbClr val="122340"/>
                </a:solidFill>
                <a:latin typeface="Arial"/>
              </a:rPr>
              <a:t>• datasheet extraction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417320"/>
            <a:ext cx="6217920" cy="516636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0" y="1417320"/>
            <a:ext cx="621792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45552" y="1581912"/>
            <a:ext cx="588873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Дальнейшее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2203704"/>
            <a:ext cx="5888736" cy="432511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rgbClr val="122340"/>
                </a:solidFill>
                <a:latin typeface="Arial"/>
              </a:rPr>
              <a:t>• уровни цепей 1–10</a:t>
            </a:r>
          </a:p>
          <a:p>
            <a:r>
              <a:rPr sz="2200" b="0">
                <a:solidFill>
                  <a:srgbClr val="122340"/>
                </a:solidFill>
                <a:latin typeface="Arial"/>
              </a:rPr>
              <a:t>• cross-highlight CAD↔3D</a:t>
            </a:r>
          </a:p>
          <a:p>
            <a:r>
              <a:rPr sz="2200" b="0">
                <a:solidFill>
                  <a:srgbClr val="122340"/>
                </a:solidFill>
                <a:latin typeface="Arial"/>
              </a:rPr>
              <a:t>• функциональные блоки схем</a:t>
            </a:r>
          </a:p>
          <a:p>
            <a:r>
              <a:rPr sz="2200" b="0">
                <a:solidFill>
                  <a:srgbClr val="122340"/>
                </a:solidFill>
                <a:latin typeface="Arial"/>
              </a:rPr>
              <a:t>• OR-Tools / RDFLib / neural hints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17/20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Код: сервисы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6355080" cy="2331720"/>
          </a:xfrm>
          <a:prstGeom prst="rect">
            <a:avLst/>
          </a:prstGeom>
          <a:solidFill>
            <a:srgbClr val="E8EEF5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380744"/>
            <a:ext cx="6025896" cy="209397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88000"/>
              </a:lnSpc>
            </a:pPr>
            <a:r>
              <a:rPr sz="1700" b="0">
                <a:solidFill>
                  <a:srgbClr val="0F172A"/>
                </a:solidFill>
                <a:latin typeface="Consolas"/>
              </a:rPr>
              <a:t>def build_design_review(project):</a:t>
            </a:r>
          </a:p>
          <a:p>
            <a:pPr algn="l">
              <a:lnSpc>
                <a:spcPct val="88000"/>
              </a:lnSpc>
            </a:pPr>
            <a:r>
              <a:rPr sz="1700" b="0">
                <a:solidFill>
                  <a:srgbClr val="0F172A"/>
                </a:solidFill>
                <a:latin typeface="Consolas"/>
              </a:rPr>
              <a:t>    scheme = project.scheme_data</a:t>
            </a:r>
          </a:p>
          <a:p>
            <a:pPr algn="l">
              <a:lnSpc>
                <a:spcPct val="88000"/>
              </a:lnSpc>
            </a:pPr>
            <a:r>
              <a:rPr sz="1700" b="0">
                <a:solidFill>
                  <a:srgbClr val="0F172A"/>
                </a:solidFill>
                <a:latin typeface="Consolas"/>
              </a:rPr>
              <a:t>    validation = validate_scheme_data(scheme)</a:t>
            </a:r>
          </a:p>
          <a:p>
            <a:pPr algn="l">
              <a:lnSpc>
                <a:spcPct val="88000"/>
              </a:lnSpc>
            </a:pPr>
            <a:r>
              <a:rPr sz="1700" b="0">
                <a:solidFill>
                  <a:srgbClr val="0F172A"/>
                </a:solidFill>
                <a:latin typeface="Consolas"/>
              </a:rPr>
              <a:t>    metrics = build_connectivity_metrics(scheme)</a:t>
            </a:r>
          </a:p>
          <a:p>
            <a:pPr algn="l">
              <a:lnSpc>
                <a:spcPct val="88000"/>
              </a:lnSpc>
            </a:pPr>
            <a:r>
              <a:rPr sz="1700" b="0">
                <a:solidFill>
                  <a:srgbClr val="0F172A"/>
                </a:solidFill>
                <a:latin typeface="Consolas"/>
              </a:rPr>
              <a:t>    return compose_review(validation, metrics)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234440"/>
            <a:ext cx="6446520" cy="2606040"/>
          </a:xfrm>
          <a:prstGeom prst="rect">
            <a:avLst/>
          </a:prstGeom>
          <a:solidFill>
            <a:srgbClr val="E8EEF5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16952" y="1380744"/>
            <a:ext cx="6117336" cy="236829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88000"/>
              </a:lnSpc>
            </a:pPr>
            <a:r>
              <a:rPr sz="1600" b="0">
                <a:solidFill>
                  <a:srgbClr val="0F172A"/>
                </a:solidFill>
                <a:latin typeface="Consolas"/>
              </a:rPr>
              <a:t>def grade_task(task, payload):</a:t>
            </a:r>
          </a:p>
          <a:p>
            <a:pPr algn="l">
              <a:lnSpc>
                <a:spcPct val="88000"/>
              </a:lnSpc>
            </a:pPr>
            <a:r>
              <a:rPr sz="1600" b="0">
                <a:solidFill>
                  <a:srgbClr val="0F172A"/>
                </a:solidFill>
                <a:latin typeface="Consolas"/>
              </a:rPr>
              <a:t>    if task.task_type == 'math_numeric':</a:t>
            </a:r>
          </a:p>
          <a:p>
            <a:pPr algn="l">
              <a:lnSpc>
                <a:spcPct val="88000"/>
              </a:lnSpc>
            </a:pPr>
            <a:r>
              <a:rPr sz="1600" b="0">
                <a:solidFill>
                  <a:srgbClr val="0F172A"/>
                </a:solidFill>
                <a:latin typeface="Consolas"/>
              </a:rPr>
              <a:t>        answer = payload['answer']</a:t>
            </a:r>
          </a:p>
          <a:p>
            <a:pPr algn="l">
              <a:lnSpc>
                <a:spcPct val="88000"/>
              </a:lnSpc>
            </a:pPr>
            <a:r>
              <a:rPr sz="1600" b="0">
                <a:solidFill>
                  <a:srgbClr val="0F172A"/>
                </a:solidFill>
                <a:latin typeface="Consolas"/>
              </a:rPr>
              <a:t>        return grade_math_task(task, answer)</a:t>
            </a:r>
          </a:p>
          <a:p>
            <a:pPr algn="l">
              <a:lnSpc>
                <a:spcPct val="88000"/>
              </a:lnSpc>
            </a:pPr>
            <a:r>
              <a:rPr sz="1600" b="0">
                <a:solidFill>
                  <a:srgbClr val="0F172A"/>
                </a:solidFill>
                <a:latin typeface="Consolas"/>
              </a:rPr>
              <a:t>    scheme = payload['scheme_data']</a:t>
            </a:r>
          </a:p>
          <a:p>
            <a:pPr algn="l">
              <a:lnSpc>
                <a:spcPct val="88000"/>
              </a:lnSpc>
            </a:pPr>
            <a:r>
              <a:rPr sz="1600" b="0">
                <a:solidFill>
                  <a:srgbClr val="0F172A"/>
                </a:solidFill>
                <a:latin typeface="Consolas"/>
              </a:rPr>
              <a:t>    return grade_circuit_task(task, scheme)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4160520"/>
            <a:ext cx="9144000" cy="1188720"/>
          </a:xfrm>
          <a:prstGeom prst="rect">
            <a:avLst/>
          </a:prstGeom>
          <a:solidFill>
            <a:srgbClr val="E8EEF5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2" y="4306824"/>
            <a:ext cx="8814816" cy="95097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88000"/>
              </a:lnSpc>
            </a:pPr>
            <a:r>
              <a:rPr sz="2000" b="0">
                <a:solidFill>
                  <a:srgbClr val="0F172A"/>
                </a:solidFill>
                <a:latin typeface="Consolas"/>
              </a:rPr>
              <a:t>parsed = parse_engineering_quantity('10 кОм', expected_unit='ohm')</a:t>
            </a:r>
          </a:p>
          <a:p>
            <a:pPr algn="l">
              <a:lnSpc>
                <a:spcPct val="88000"/>
              </a:lnSpc>
            </a:pPr>
            <a:r>
              <a:rPr sz="2000" b="0">
                <a:solidFill>
                  <a:srgbClr val="0F172A"/>
                </a:solidFill>
                <a:latin typeface="Consolas"/>
              </a:rPr>
              <a:t># 10000.0 ohm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5760720"/>
            <a:ext cx="12527280" cy="896112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0120" y="5760720"/>
            <a:ext cx="1252728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5989320"/>
            <a:ext cx="11978640" cy="34747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2600" b="1">
                <a:solidFill>
                  <a:srgbClr val="0F172A"/>
                </a:solidFill>
                <a:latin typeface="Arial"/>
              </a:rPr>
              <a:t>Код вынесен в сервисы: один слой работает в лаборатории, обучении и review.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18/20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Код: scheme_data и finding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188720"/>
            <a:ext cx="6400800" cy="4297680"/>
          </a:xfrm>
          <a:prstGeom prst="rect">
            <a:avLst/>
          </a:prstGeom>
          <a:solidFill>
            <a:srgbClr val="E8EEF5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335024"/>
            <a:ext cx="6071616" cy="405993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88000"/>
              </a:lnSpc>
            </a:pPr>
            <a:r>
              <a:rPr sz="1550" b="0">
                <a:solidFill>
                  <a:srgbClr val="0F172A"/>
                </a:solidFill>
                <a:latin typeface="Consolas"/>
              </a:rPr>
              <a:t>scheme_data = {</a:t>
            </a:r>
          </a:p>
          <a:p>
            <a:pPr algn="l">
              <a:lnSpc>
                <a:spcPct val="88000"/>
              </a:lnSpc>
            </a:pPr>
            <a:r>
              <a:rPr sz="1550" b="0">
                <a:solidFill>
                  <a:srgbClr val="0F172A"/>
                </a:solidFill>
                <a:latin typeface="Consolas"/>
              </a:rPr>
              <a:t>  'components': [</a:t>
            </a:r>
          </a:p>
          <a:p>
            <a:pPr algn="l">
              <a:lnSpc>
                <a:spcPct val="88000"/>
              </a:lnSpc>
            </a:pPr>
            <a:r>
              <a:rPr sz="1550" b="0">
                <a:solidFill>
                  <a:srgbClr val="0F172A"/>
                </a:solidFill>
                <a:latin typeface="Consolas"/>
              </a:rPr>
              <a:t>    {'id':'V1', 'type':'source', 'value':'9 V'},</a:t>
            </a:r>
          </a:p>
          <a:p>
            <a:pPr algn="l">
              <a:lnSpc>
                <a:spcPct val="88000"/>
              </a:lnSpc>
            </a:pPr>
            <a:r>
              <a:rPr sz="1550" b="0">
                <a:solidFill>
                  <a:srgbClr val="0F172A"/>
                </a:solidFill>
                <a:latin typeface="Consolas"/>
              </a:rPr>
              <a:t>    {'id':'R1', 'type':'resistor', 'value':'20 kOhm'},</a:t>
            </a:r>
          </a:p>
          <a:p>
            <a:pPr algn="l">
              <a:lnSpc>
                <a:spcPct val="88000"/>
              </a:lnSpc>
            </a:pPr>
            <a:r>
              <a:rPr sz="1550" b="0">
                <a:solidFill>
                  <a:srgbClr val="0F172A"/>
                </a:solidFill>
                <a:latin typeface="Consolas"/>
              </a:rPr>
              <a:t>    {'id':'R2', 'type':'resistor', 'value':'10 kOhm'}</a:t>
            </a:r>
          </a:p>
          <a:p>
            <a:pPr algn="l">
              <a:lnSpc>
                <a:spcPct val="88000"/>
              </a:lnSpc>
            </a:pPr>
            <a:r>
              <a:rPr sz="1550" b="0">
                <a:solidFill>
                  <a:srgbClr val="0F172A"/>
                </a:solidFill>
                <a:latin typeface="Consolas"/>
              </a:rPr>
              <a:t>  ],</a:t>
            </a:r>
          </a:p>
          <a:p>
            <a:pPr algn="l">
              <a:lnSpc>
                <a:spcPct val="88000"/>
              </a:lnSpc>
            </a:pPr>
            <a:r>
              <a:rPr sz="1550" b="0">
                <a:solidFill>
                  <a:srgbClr val="0F172A"/>
                </a:solidFill>
                <a:latin typeface="Consolas"/>
              </a:rPr>
              <a:t>  'labels': {'output':'vout'}</a:t>
            </a:r>
          </a:p>
          <a:p>
            <a:pPr algn="l">
              <a:lnSpc>
                <a:spcPct val="88000"/>
              </a:lnSpc>
            </a:pPr>
            <a:r>
              <a:rPr sz="1550" b="0">
                <a:solidFill>
                  <a:srgbClr val="0F172A"/>
                </a:solidFill>
                <a:latin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7543800" y="1188720"/>
            <a:ext cx="6400800" cy="4297680"/>
          </a:xfrm>
          <a:prstGeom prst="rect">
            <a:avLst/>
          </a:prstGeom>
          <a:solidFill>
            <a:srgbClr val="E8EEF5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08392" y="1335024"/>
            <a:ext cx="6071616" cy="405993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88000"/>
              </a:lnSpc>
            </a:pPr>
            <a:r>
              <a:rPr sz="1650" b="0">
                <a:solidFill>
                  <a:srgbClr val="0F172A"/>
                </a:solidFill>
                <a:latin typeface="Consolas"/>
              </a:rPr>
              <a:t>finding = {</a:t>
            </a:r>
          </a:p>
          <a:p>
            <a:pPr algn="l">
              <a:lnSpc>
                <a:spcPct val="88000"/>
              </a:lnSpc>
            </a:pPr>
            <a:r>
              <a:rPr sz="1650" b="0">
                <a:solidFill>
                  <a:srgbClr val="0F172A"/>
                </a:solidFill>
                <a:latin typeface="Consolas"/>
              </a:rPr>
              <a:t>  'rule_id': 'circuit.ground.required',</a:t>
            </a:r>
          </a:p>
          <a:p>
            <a:pPr algn="l">
              <a:lnSpc>
                <a:spcPct val="88000"/>
              </a:lnSpc>
            </a:pPr>
            <a:r>
              <a:rPr sz="1650" b="0">
                <a:solidFill>
                  <a:srgbClr val="0F172A"/>
                </a:solidFill>
                <a:latin typeface="Consolas"/>
              </a:rPr>
              <a:t>  'severity': 'error',</a:t>
            </a:r>
          </a:p>
          <a:p>
            <a:pPr algn="l">
              <a:lnSpc>
                <a:spcPct val="88000"/>
              </a:lnSpc>
            </a:pPr>
            <a:r>
              <a:rPr sz="1650" b="0">
                <a:solidFill>
                  <a:srgbClr val="0F172A"/>
                </a:solidFill>
                <a:latin typeface="Consolas"/>
              </a:rPr>
              <a:t>  'evidence': ['GND node not found'],</a:t>
            </a:r>
          </a:p>
          <a:p>
            <a:pPr algn="l">
              <a:lnSpc>
                <a:spcPct val="88000"/>
              </a:lnSpc>
            </a:pPr>
            <a:r>
              <a:rPr sz="1650" b="0">
                <a:solidFill>
                  <a:srgbClr val="0F172A"/>
                </a:solidFill>
                <a:latin typeface="Consolas"/>
              </a:rPr>
              <a:t>  'recommendation': 'Добавьте опорную землю'</a:t>
            </a:r>
          </a:p>
          <a:p>
            <a:pPr algn="l">
              <a:lnSpc>
                <a:spcPct val="88000"/>
              </a:lnSpc>
            </a:pPr>
            <a:r>
              <a:rPr sz="1650" b="0">
                <a:solidFill>
                  <a:srgbClr val="0F172A"/>
                </a:solidFill>
                <a:latin typeface="Consolas"/>
              </a:rPr>
              <a:t>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797296"/>
            <a:ext cx="12801600" cy="896112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5797296"/>
            <a:ext cx="12801600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943600"/>
            <a:ext cx="12252960" cy="56692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>
              <a:lnSpc>
                <a:spcPct val="90000"/>
              </a:lnSpc>
            </a:pPr>
            <a:r>
              <a:rPr sz="2200" b="1">
                <a:solidFill>
                  <a:srgbClr val="0F172A"/>
                </a:solidFill>
                <a:latin typeface="Arial"/>
              </a:rPr>
              <a:t>Схема, ошибка и рекомендация представлены как данные.</a:t>
            </a:r>
          </a:p>
          <a:p>
            <a:pPr algn="ctr">
              <a:lnSpc>
                <a:spcPct val="90000"/>
              </a:lnSpc>
            </a:pPr>
            <a:r>
              <a:rPr sz="2200" b="1">
                <a:solidFill>
                  <a:srgbClr val="0F172A"/>
                </a:solidFill>
                <a:latin typeface="Arial"/>
              </a:rPr>
              <a:t>Их можно проверять, сохранять и объяснять.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19/20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Итоги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25880"/>
            <a:ext cx="2103120" cy="132588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2103120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17904"/>
            <a:ext cx="1920239" cy="40233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r>
              <a:t>364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039112"/>
            <a:ext cx="1956815" cy="41148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850" b="1">
                <a:solidFill>
                  <a:srgbClr val="1E293B"/>
                </a:solidFill>
                <a:latin typeface="Arial"/>
              </a:rPr>
              <a:t>товаров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54680" y="1325880"/>
            <a:ext cx="2103120" cy="132588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54680" y="1325880"/>
            <a:ext cx="2103120" cy="10972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517904"/>
            <a:ext cx="1920239" cy="40233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r>
              <a:t>227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27832" y="2039112"/>
            <a:ext cx="1956815" cy="41148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850" b="1">
                <a:solidFill>
                  <a:srgbClr val="1E293B"/>
                </a:solidFill>
                <a:latin typeface="Arial"/>
              </a:rPr>
              <a:t>РЭБ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1325880"/>
            <a:ext cx="2103120" cy="132588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77840" y="1325880"/>
            <a:ext cx="210312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79" y="1517904"/>
            <a:ext cx="1920239" cy="40233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r>
              <a:t>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2039112"/>
            <a:ext cx="1956815" cy="41148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r>
              <a:t>статьи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325880"/>
            <a:ext cx="2103120" cy="132588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325880"/>
            <a:ext cx="2103120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1517904"/>
            <a:ext cx="1920239" cy="40233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r>
              <a:t>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2039112"/>
            <a:ext cx="1956815" cy="41148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850" b="1">
                <a:solidFill>
                  <a:srgbClr val="1E293B"/>
                </a:solidFill>
                <a:latin typeface="Arial"/>
              </a:rPr>
              <a:t>заданий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424160" y="1325880"/>
            <a:ext cx="2926080" cy="132588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24160" y="1325880"/>
            <a:ext cx="292608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0" y="1517904"/>
            <a:ext cx="2743200" cy="402336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3000" b="1">
                <a:solidFill>
                  <a:srgbClr val="7C3AED"/>
                </a:solidFill>
                <a:latin typeface="Arial"/>
              </a:rPr>
              <a:t>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97312" y="2039112"/>
            <a:ext cx="2779776" cy="41148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ctr"/>
            <a:r>
              <a:rPr sz="1850" b="1">
                <a:solidFill>
                  <a:srgbClr val="1E293B"/>
                </a:solidFill>
                <a:latin typeface="Arial"/>
              </a:rPr>
              <a:t>demo-ready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3246120"/>
            <a:ext cx="5989320" cy="324612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3246120"/>
            <a:ext cx="5989320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07592" y="3410712"/>
            <a:ext cx="566013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Создано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7592" y="4032504"/>
            <a:ext cx="5660136" cy="240487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каталог + заказы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CAD/SIM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лаборатория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обучение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rgbClr val="1E293B"/>
                </a:solidFill>
                <a:latin typeface="Arial"/>
              </a:rPr>
              <a:t>• expert 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26679" y="3246120"/>
            <a:ext cx="5715000" cy="324612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26679" y="3246120"/>
            <a:ext cx="571500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91271" y="3410712"/>
            <a:ext cx="5385816" cy="694944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Arial"/>
              </a:rPr>
              <a:t>Проверено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1271" y="4032504"/>
            <a:ext cx="5385816" cy="2404872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2000"/>
              </a:lnSpc>
            </a:pPr>
            <a:r>
              <a:rPr sz="2100" b="0">
                <a:solidFill>
                  <a:srgbClr val="122340"/>
                </a:solidFill>
                <a:latin typeface="Arial"/>
              </a:rPr>
              <a:t>• manage.py check</a:t>
            </a:r>
          </a:p>
          <a:p>
            <a:r>
              <a:rPr sz="2100" b="0">
                <a:solidFill>
                  <a:srgbClr val="122340"/>
                </a:solidFill>
                <a:latin typeface="Arial"/>
              </a:rPr>
              <a:t>• check_demo_ready</a:t>
            </a:r>
          </a:p>
          <a:p>
            <a:r>
              <a:rPr sz="2100" b="0">
                <a:solidFill>
                  <a:srgbClr val="122340"/>
                </a:solidFill>
                <a:latin typeface="Arial"/>
              </a:rPr>
              <a:t>• check_data_integrity</a:t>
            </a:r>
          </a:p>
          <a:p>
            <a:r>
              <a:rPr sz="2100" b="0">
                <a:solidFill>
                  <a:srgbClr val="122340"/>
                </a:solidFill>
                <a:latin typeface="Arial"/>
              </a:rPr>
              <a:t>• media quality 364/364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310896" cy="8065008"/>
          </a:xfrm>
          <a:prstGeom prst="rect">
            <a:avLst/>
          </a:prstGeom>
          <a:solidFill>
            <a:srgbClr val="C2CF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6459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853160" y="7726679"/>
            <a:ext cx="502920" cy="22860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Arial"/>
              </a:rPr>
              <a:t>20/20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310896"/>
            <a:ext cx="12161520" cy="91440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9768"/>
            <a:ext cx="11750040" cy="658368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3800" b="1">
                <a:solidFill>
                  <a:srgbClr val="0F172A"/>
                </a:solidFill>
                <a:latin typeface="Arial"/>
              </a:rPr>
              <a:t>Спасибо за внимание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07008"/>
            <a:ext cx="8229600" cy="2011680"/>
          </a:xfrm>
          <a:prstGeom prst="rect">
            <a:avLst/>
          </a:prstGeom>
          <a:solidFill>
            <a:srgbClr val="D6E0EC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8229600" cy="10972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703320"/>
            <a:ext cx="8641080" cy="2606040"/>
          </a:xfrm>
          <a:prstGeom prst="rect">
            <a:avLst/>
          </a:prstGeom>
          <a:solidFill>
            <a:srgbClr val="EEF3F8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3703320"/>
            <a:ext cx="8641080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63040"/>
            <a:ext cx="4754880" cy="8229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5800" b="1">
                <a:solidFill>
                  <a:srgbClr val="0891B2"/>
                </a:solidFill>
                <a:latin typeface="Arial"/>
              </a:rPr>
              <a:t>DOLG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7680960" cy="82296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>
              <a:lnSpc>
                <a:spcPct val="90000"/>
              </a:lnSpc>
            </a:pPr>
            <a:r>
              <a:rPr sz="2500" b="1">
                <a:solidFill>
                  <a:srgbClr val="0F172A"/>
                </a:solidFill>
                <a:latin typeface="Arial"/>
              </a:rPr>
              <a:t>каталог • CAD/SIM • лаборатория</a:t>
            </a:r>
          </a:p>
          <a:p>
            <a:pPr algn="l">
              <a:lnSpc>
                <a:spcPct val="90000"/>
              </a:lnSpc>
            </a:pPr>
            <a:r>
              <a:rPr sz="2500" b="1">
                <a:solidFill>
                  <a:srgbClr val="0F172A"/>
                </a:solidFill>
                <a:latin typeface="Arial"/>
              </a:rPr>
              <a:t>обучение •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86784"/>
            <a:ext cx="8275320" cy="1920240"/>
          </a:xfrm>
          <a:prstGeom prst="rect">
            <a:avLst/>
          </a:prstGeom>
          <a:noFill/>
        </p:spPr>
        <p:txBody>
          <a:bodyPr wrap="square" anchor="t" lIns="9144" rIns="9144" tIns="9144" bIns="9144">
            <a:normAutofit/>
          </a:bodyPr>
          <a:lstStyle/>
          <a:p>
            <a:pPr algn="l"/>
            <a:r>
              <a:rPr sz="2350" b="1">
                <a:solidFill>
                  <a:srgbClr val="1E293B"/>
                </a:solidFill>
                <a:latin typeface="Arial"/>
              </a:rPr>
              <a:t>Буряко Дмитрий Сергеевич</a:t>
            </a:r>
          </a:p>
          <a:p>
            <a:pPr algn="l"/>
            <a:r>
              <a:rPr sz="2350" b="1">
                <a:solidFill>
                  <a:srgbClr val="1E293B"/>
                </a:solidFill>
                <a:latin typeface="Arial"/>
              </a:rPr>
              <a:t>Научный руководитель: Буланов Сергей Георгиевич</a:t>
            </a:r>
          </a:p>
          <a:p>
            <a:pPr algn="l"/>
            <a:r>
              <a:rPr sz="2350" b="1">
                <a:solidFill>
                  <a:srgbClr val="1E293B"/>
                </a:solidFill>
                <a:latin typeface="Arial"/>
              </a:rPr>
              <a:t>Email: buryako@internet.com</a:t>
            </a:r>
          </a:p>
          <a:p>
            <a:pPr algn="l"/>
            <a:r>
              <a:rPr sz="2350" b="1">
                <a:solidFill>
                  <a:srgbClr val="1E293B"/>
                </a:solidFill>
                <a:latin typeface="Arial"/>
              </a:rPr>
              <a:t>Телефон: +7 (903) 439-44-87</a:t>
            </a:r>
          </a:p>
        </p:txBody>
      </p:sp>
      <p:pic>
        <p:nvPicPr>
          <p:cNvPr id="14" name="Picture 13" descr="01_home_c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6260" y="3520440"/>
            <a:ext cx="4196080" cy="26974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