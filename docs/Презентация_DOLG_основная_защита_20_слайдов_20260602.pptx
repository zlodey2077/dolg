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355080" cy="452628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594360"/>
            <a:ext cx="6355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440680"/>
            <a:ext cx="6355080" cy="160020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440680"/>
            <a:ext cx="6355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804672"/>
            <a:ext cx="5897880" cy="347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89888"/>
            <a:ext cx="5687568" cy="30632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6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Разработка веб-приложения для продажи радио- и электронных компонентов со встроенными инструментами проектирования и симуляции схем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87568"/>
            <a:ext cx="5715000" cy="9601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Автор: Буряко Дмитрий Сергеевич</a:t>
            </a:r>
          </a:p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Руководитель: Буланов Сергей Георгиевич</a:t>
            </a:r>
          </a:p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Год защиты: 2026</a:t>
            </a:r>
          </a:p>
        </p:txBody>
      </p:sp>
      <p:pic>
        <p:nvPicPr>
          <p:cNvPr id="12" name="Picture 11" descr="01_hom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93668"/>
            <a:ext cx="6492240" cy="4173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Проблемы, цели и 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Проблемы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Каталог, datasheet, CAD, SPICE, BOM и заказ часто существуют отдельно.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Номиналы, модели и результаты приходится переносить вручную.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5232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85232" y="1508760"/>
            <a:ext cx="40690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Разработать веб-приложение для продажи радио- и электронных компонентов со встроенными инструментами проектирования и симуляции схем.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93808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93808" y="150876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Каталог и заказы.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CAD/SIM.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Лаборатория.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Обучение.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Review.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Качество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Анализ решений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33502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5303520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Что хорошо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Чего не хватает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Маркетплейсы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поиск, цена, заказ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нет проверки схемы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Онлайн-симуляторы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быстрый эксперимент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слабая связь с товарами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KiCad / Altium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EDA workflow, DRC/ERC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высокий порог входа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AI-CAD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подсказки по проекту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нужны проверяемые факты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1417320"/>
            <a:ext cx="2606040" cy="1234440"/>
          </a:xfrm>
          <a:prstGeom prst="rect">
            <a:avLst/>
          </a:prstGeom>
          <a:solidFill>
            <a:srgbClr val="EEF5F9"/>
          </a:solidFill>
          <a:ln w="2540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bIns="73152"/>
          <a:lstStyle/>
          <a:p>
            <a:pPr algn="ctr"/>
            <a:r>
              <a:rPr sz="2200" b="1">
                <a:solidFill>
                  <a:srgbClr val="081C38"/>
                </a:solidFill>
                <a:latin typeface="Arial"/>
              </a:rPr>
              <a:t>????????????</a:t>
            </a:r>
          </a:p>
          <a:p>
            <a:r>
              <a:rPr sz="1700">
                <a:solidFill>
                  <a:srgbClr val="2D4056"/>
                </a:solidFill>
                <a:latin typeface="Arial"/>
              </a:rPr>
              <a:t>?????? ? ???????, ?? ?? ????????? ?????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17320"/>
            <a:ext cx="2606040" cy="1234440"/>
          </a:xfrm>
          <a:prstGeom prst="rect">
            <a:avLst/>
          </a:prstGeom>
          <a:solidFill>
            <a:srgbClr val="EEF5F9"/>
          </a:solidFill>
          <a:ln w="25400">
            <a:solidFill>
              <a:srgbClr val="2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bIns="73152"/>
          <a:lstStyle/>
          <a:p>
            <a:pPr algn="ctr"/>
            <a:r>
              <a:rPr sz="2200" b="1">
                <a:solidFill>
                  <a:srgbClr val="081C38"/>
                </a:solidFill>
                <a:latin typeface="Arial"/>
              </a:rPr>
              <a:t>Online CAD/SIM</a:t>
            </a:r>
          </a:p>
          <a:p>
            <a:r>
              <a:rPr sz="1700">
                <a:solidFill>
                  <a:srgbClr val="2D4056"/>
                </a:solidFill>
                <a:latin typeface="Arial"/>
              </a:rPr>
              <a:t>???? ?????????????, ?? ????? ??????? ? ???????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2606040" cy="1234440"/>
          </a:xfrm>
          <a:prstGeom prst="rect">
            <a:avLst/>
          </a:prstGeom>
          <a:solidFill>
            <a:srgbClr val="EEF5F9"/>
          </a:solidFill>
          <a:ln w="25400">
            <a:solidFill>
              <a:srgbClr val="28A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bIns="73152"/>
          <a:lstStyle/>
          <a:p>
            <a:pPr algn="ctr"/>
            <a:r>
              <a:rPr sz="2200" b="1">
                <a:solidFill>
                  <a:srgbClr val="081C38"/>
                </a:solidFill>
                <a:latin typeface="Arial"/>
              </a:rPr>
              <a:t>KiCad / Altium</a:t>
            </a:r>
          </a:p>
          <a:p>
            <a:r>
              <a:rPr sz="1700">
                <a:solidFill>
                  <a:srgbClr val="2D4056"/>
                </a:solidFill>
                <a:latin typeface="Arial"/>
              </a:rPr>
              <a:t>???????????? CAD, ?? ???????? ?? ????????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417320"/>
            <a:ext cx="2331720" cy="1234440"/>
          </a:xfrm>
          <a:prstGeom prst="rect">
            <a:avLst/>
          </a:prstGeom>
          <a:solidFill>
            <a:srgbClr val="EEF5F9"/>
          </a:solidFill>
          <a:ln w="25400">
            <a:solidFill>
              <a:srgbClr val="F1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bIns="73152"/>
          <a:lstStyle/>
          <a:p>
            <a:pPr algn="ctr"/>
            <a:r>
              <a:rPr sz="2200" b="1">
                <a:solidFill>
                  <a:srgbClr val="081C38"/>
                </a:solidFill>
                <a:latin typeface="Arial"/>
              </a:rPr>
              <a:t>Lithium ECAD</a:t>
            </a:r>
          </a:p>
          <a:p>
            <a:r>
              <a:rPr sz="1700">
                <a:solidFill>
                  <a:srgbClr val="2D4056"/>
                </a:solidFill>
                <a:latin typeface="Arial"/>
              </a:rPr>
              <a:t>?????????????, ?????? ?????, ?????????????? ?????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86200"/>
            <a:ext cx="10835640" cy="1005840"/>
          </a:xfrm>
          <a:prstGeom prst="rect">
            <a:avLst/>
          </a:prstGeom>
          <a:solidFill>
            <a:srgbClr val="DFEEF4"/>
          </a:solidFill>
          <a:ln w="2540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2600" b="1">
                <a:solidFill>
                  <a:srgbClr val="08223E"/>
                </a:solidFill>
                <a:latin typeface="Arial"/>
              </a:rPr>
              <a:t>???? DOLG: ????????? ? ?????? ? ????? ? ????????? ? review ? BOM ? 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Функции системы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Каталог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карточки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фильтры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параметры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325880"/>
            <a:ext cx="4069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статьи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обучение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19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19" y="132588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5247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Лаборатория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85247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расчеты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оценки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метрики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91839"/>
            <a:ext cx="4069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CAD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схема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GND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экспорт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3291839"/>
            <a:ext cx="40690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7528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SIM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DC / AC / TRAN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FFT / Bode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Monte Carlo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19" y="3291839"/>
            <a:ext cx="40690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7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7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DRC/ERC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BOM risk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25780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Import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LTspice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SPICE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KiCad subset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57800" y="525780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Заказ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BOM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XLSX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корзина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19" y="5257800"/>
            <a:ext cx="4069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7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7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правила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факты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подсказки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Архитектура: приложения и данные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425196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42519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Django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12264"/>
            <a:ext cx="3922776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shop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accounts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orders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knowledge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Dolg_APP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1325880"/>
            <a:ext cx="425196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0368" y="1325880"/>
            <a:ext cx="42519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112264"/>
            <a:ext cx="3922776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товары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схемы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измерения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уроки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review snapshots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заказы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325880"/>
            <a:ext cx="416052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1325880"/>
            <a:ext cx="41605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490472"/>
            <a:ext cx="38313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Контуры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2112264"/>
            <a:ext cx="3831335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каталог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проектирование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симуляция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обучение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коммерция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Архитектура: service-layer и библиотеки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14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1936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65408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88920"/>
            <a:ext cx="3931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Scientific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NumPy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SciPy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Matplotlib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Pandas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9240" y="2788920"/>
            <a:ext cx="39319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Graph / Formula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1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NetworkX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SymPy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Schemdraw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Pint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788920"/>
            <a:ext cx="39319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Expert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jsonschema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rule-engine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Lark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Z3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scikit-fuzzy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Каталог</a:t>
            </a:r>
          </a:p>
        </p:txBody>
      </p:sp>
      <p:pic>
        <p:nvPicPr>
          <p:cNvPr id="7" name="Picture 6" descr="01_catalog_cards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1904"/>
            <a:ext cx="8458200" cy="52863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53728" y="1234440"/>
            <a:ext cx="4709160" cy="54406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53728" y="1234440"/>
            <a:ext cx="470916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19" y="1399032"/>
            <a:ext cx="43799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Функции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2020824"/>
            <a:ext cx="4379976" cy="459943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22340"/>
                </a:solidFill>
                <a:latin typeface="Arial"/>
              </a:rPr>
              <a:t>? 364 ???????? ???????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227 ???-???????????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???????? chips ? ???????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unit-aware ?????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79 verified photos; media quality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Knowledge и обучение</a:t>
            </a:r>
          </a:p>
        </p:txBody>
      </p:sp>
      <p:pic>
        <p:nvPicPr>
          <p:cNvPr id="7" name="Picture 6" descr="08_knowledge_article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9942"/>
            <a:ext cx="7680960" cy="34696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496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417320"/>
            <a:ext cx="1600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93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900" b="0">
                <a:solidFill>
                  <a:srgbClr val="1E293B"/>
                </a:solidFill>
                <a:latin typeface="Arial"/>
              </a:rPr>
              <a:t>статья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784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78440" y="1417320"/>
            <a:ext cx="16002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81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881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072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07240" y="1417320"/>
            <a:ext cx="1600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69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69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900" b="0">
                <a:solidFill>
                  <a:srgbClr val="1E293B"/>
                </a:solidFill>
                <a:latin typeface="Arial"/>
              </a:rPr>
              <a:t>задания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971800"/>
            <a:ext cx="5303520" cy="28346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2971800"/>
            <a:ext cx="53035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3136392"/>
            <a:ext cx="49743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Типы заданий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758184"/>
            <a:ext cx="4974336" cy="19933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числовой ответ</a:t>
            </a:r>
          </a:p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сборка схемы</a:t>
            </a:r>
          </a:p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измерение симуляции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Инженерная лаборатория</a:t>
            </a:r>
          </a:p>
        </p:txBody>
      </p:sp>
      <p:pic>
        <p:nvPicPr>
          <p:cNvPr id="7" name="Picture 6" descr="02_engineering_lab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747"/>
            <a:ext cx="8732520" cy="5457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55480" y="1234440"/>
            <a:ext cx="4389120" cy="30632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5480" y="1234440"/>
            <a:ext cx="4389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0072" y="139903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Расчеты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2020824"/>
            <a:ext cx="4059935" cy="22219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NE555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стабилизатор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транзисторный ключ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тепловой запас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RC-антидребезг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4617720"/>
            <a:ext cx="4389120" cy="2148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4617720"/>
            <a:ext cx="43891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72" y="478231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Оценки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5404104"/>
            <a:ext cx="4059935" cy="13075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норма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риск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перегрев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нужен запас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CAD-редактор</a:t>
            </a:r>
          </a:p>
        </p:txBody>
      </p:sp>
      <p:pic>
        <p:nvPicPr>
          <p:cNvPr id="7" name="Picture 6" descr="03_cad_editor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51560"/>
            <a:ext cx="9948672" cy="6217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72800" y="1234440"/>
            <a:ext cx="2926080" cy="525780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1234440"/>
            <a:ext cx="2926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37392" y="1399032"/>
            <a:ext cx="2596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Режим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2020824"/>
            <a:ext cx="2596896" cy="441655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GND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источник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components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wires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labels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11/20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Симуляция и измерения</a:t>
            </a:r>
          </a:p>
        </p:txBody>
      </p:sp>
      <p:pic>
        <p:nvPicPr>
          <p:cNvPr id="7" name="Picture 6" descr="04_simulation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0175"/>
            <a:ext cx="8686800" cy="5429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09760" y="1143000"/>
            <a:ext cx="4389120" cy="23317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1143000"/>
            <a:ext cx="4389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74352" y="130759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Анализы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4352" y="1929384"/>
            <a:ext cx="4059935" cy="1490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DC / OP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AC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TRAN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3794760"/>
            <a:ext cx="4389120" cy="30632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3794760"/>
            <a:ext cx="43891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395935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Метрики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4581144"/>
            <a:ext cx="4059935" cy="22219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напряжение узла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ток ветви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RMS / частота / duty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мощность / температура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expected vs measured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Pro-аналитика</a:t>
            </a:r>
          </a:p>
        </p:txBody>
      </p:sp>
      <p:pic>
        <p:nvPicPr>
          <p:cNvPr id="7" name="Picture 6" descr="02_simulation_ac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3222"/>
            <a:ext cx="8778240" cy="56431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46920" y="1325880"/>
            <a:ext cx="4251960" cy="2606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46920" y="1325880"/>
            <a:ext cx="42519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1512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Возможности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2112264"/>
            <a:ext cx="3922776" cy="17647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FFT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Bode plot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Monte Carlo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parameter sweep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4343400"/>
            <a:ext cx="4251960" cy="23317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6920" y="4343400"/>
            <a:ext cx="42519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1512" y="450799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Стек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5129784"/>
            <a:ext cx="3922776" cy="1490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NumPy / SciPy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Matplotlib / Pandas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scientific stack 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Экспертные уровни контроля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212140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Граф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Формулы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Расчет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AI-подсказка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945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59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68911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Человек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3063240"/>
            <a:ext cx="38404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Проверяемые факты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GND, источник, номиналы, связи, BOM, измерения.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60" y="3063240"/>
            <a:ext cx="38404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Автоматический вывод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findings, риски, рекомендации, подбор вариантов.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3063240"/>
            <a:ext cx="38404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Финальный контроль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Последнее решение всегда остается за человеком.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CAD-импорт и базы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14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LTspice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SPICE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KiCad subset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1936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scheme_data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65408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2240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Компоненты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параметры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наличие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карточки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3246120"/>
            <a:ext cx="22402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SPICE / CAD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модели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корпуса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netlist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71616" y="3246120"/>
            <a:ext cx="22402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Правила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DRC/ERC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risk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41664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41664" y="3246120"/>
            <a:ext cx="2240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1392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Знания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статьи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формулы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11712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11712" y="3246120"/>
            <a:ext cx="22402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0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Задания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math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circuit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measure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BOM и заказ</a:t>
            </a:r>
          </a:p>
        </p:txBody>
      </p:sp>
      <p:pic>
        <p:nvPicPr>
          <p:cNvPr id="7" name="Picture 6" descr="07_product_related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67" y="1280160"/>
            <a:ext cx="6530945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52360" y="1234440"/>
            <a:ext cx="2971800" cy="4389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29718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399032"/>
            <a:ext cx="26426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020824"/>
            <a:ext cx="2642616" cy="3547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позиции схемы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подбор товара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234440"/>
            <a:ext cx="2971800" cy="4389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35640" y="1234440"/>
            <a:ext cx="29718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232" y="1399032"/>
            <a:ext cx="26426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Заказ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2020824"/>
            <a:ext cx="2642616" cy="3547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корзина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остатки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checkout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74920"/>
            <a:ext cx="2743200" cy="1234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66944"/>
            <a:ext cx="256032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rial"/>
              </a:rPr>
              <a:t>3/3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788152"/>
            <a:ext cx="259689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browser smoke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5074920"/>
            <a:ext cx="2743200" cy="1234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5074920"/>
            <a:ext cx="2743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79" y="5266944"/>
            <a:ext cx="256032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Arial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5788152"/>
            <a:ext cx="259689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order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Развитие проекта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217920" cy="51663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217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5888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Ближайшее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03704"/>
            <a:ext cx="5888736" cy="43251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комментарии пользователей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measurement core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official image/API sources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datasheet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417320"/>
            <a:ext cx="6217920" cy="51663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417320"/>
            <a:ext cx="62179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581912"/>
            <a:ext cx="5888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Дальнейшее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203704"/>
            <a:ext cx="5888736" cy="43251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22340"/>
                </a:solidFill>
                <a:latin typeface="Arial"/>
              </a:rPr>
              <a:t>? ?????? ????? 1?10</a:t>
            </a:r>
          </a:p>
          <a:p>
            <a:r>
              <a:rPr sz="2200" b="0">
                <a:solidFill>
                  <a:srgbClr val="122340"/>
                </a:solidFill>
                <a:latin typeface="Arial"/>
              </a:rPr>
              <a:t>? cross-highlight CAD?3D</a:t>
            </a:r>
          </a:p>
          <a:p>
            <a:r>
              <a:rPr sz="2200" b="0">
                <a:solidFill>
                  <a:srgbClr val="122340"/>
                </a:solidFill>
                <a:latin typeface="Arial"/>
              </a:rPr>
              <a:t>? ?????????????? ????? ????</a:t>
            </a:r>
          </a:p>
          <a:p>
            <a:r>
              <a:rPr sz="2200" b="0">
                <a:solidFill>
                  <a:srgbClr val="122340"/>
                </a:solidFill>
                <a:latin typeface="Arial"/>
              </a:rPr>
              <a:t>? OR-Tools / RDFLib / neural hints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Код: сервисы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355080" cy="233172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80744"/>
            <a:ext cx="6025896" cy="209397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def build_design_review(project):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scheme = project.scheme_data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validation = validate_scheme_data(scheme)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metrics = build_connectivity_metrics(scheme)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return compose_review(validation, metrics)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6446520" cy="260604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380744"/>
            <a:ext cx="6117336" cy="236829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def grade_task(task, payload):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if task.task_type == 'math_numeric':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    answer = payload['answer']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    return grade_math_task(task, answer)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scheme = payload['scheme_data']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return grade_circuit_task(task, scheme)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160520"/>
            <a:ext cx="9144000" cy="118872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4306824"/>
            <a:ext cx="8814816" cy="95097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2000" b="0">
                <a:solidFill>
                  <a:srgbClr val="0F172A"/>
                </a:solidFill>
                <a:latin typeface="Consolas"/>
              </a:rPr>
              <a:t>parsed = parse_engineering_quantity('10 кОм', expected_unit='ohm')</a:t>
            </a:r>
          </a:p>
          <a:p>
            <a:pPr algn="l">
              <a:lnSpc>
                <a:spcPct val="88000"/>
              </a:lnSpc>
            </a:pPr>
            <a:r>
              <a:rPr sz="2000" b="0">
                <a:solidFill>
                  <a:srgbClr val="0F172A"/>
                </a:solidFill>
                <a:latin typeface="Consolas"/>
              </a:rPr>
              <a:t># 10000.0 ohm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760720"/>
            <a:ext cx="12527280" cy="896112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5760720"/>
            <a:ext cx="125272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989320"/>
            <a:ext cx="11978640" cy="347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Arial"/>
              </a:rPr>
              <a:t>Код вынесен в сервисы: один слой работает в лаборатории, обучении и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Код: scheme_data и finding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00" cy="429768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6071616" cy="4059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scheme_data = {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'components': [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{'id':'V1', 'type':'source', 'value':'9 V'},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{'id':'R1', 'type':'resistor', 'value':'20 kOhm'},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{'id':'R2', 'type':'resistor', 'value':'10 kOhm'}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],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'labels': {'output':'vout'}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188720"/>
            <a:ext cx="6400800" cy="429768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1335024"/>
            <a:ext cx="6071616" cy="4059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finding = {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'rule_id': 'circuit.ground.required',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'severity': 'error',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'evidence': ['GND node not found'],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'recommendation': 'Добавьте опорную землю'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797296"/>
            <a:ext cx="12801600" cy="896112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797296"/>
            <a:ext cx="128016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12252960" cy="56692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90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Схема, ошибка и рекомендация представлены как данные.</a:t>
            </a:r>
          </a:p>
          <a:p>
            <a:pPr algn="ctr">
              <a:lnSpc>
                <a:spcPct val="90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Их можно проверять, сохранять и объяснять.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Итоги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2103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товаров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325880"/>
            <a:ext cx="210312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227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РЭБ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325880"/>
            <a:ext cx="21031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79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статья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325880"/>
            <a:ext cx="21031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заданий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325880"/>
            <a:ext cx="292608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24160" y="1325880"/>
            <a:ext cx="2926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1517904"/>
            <a:ext cx="274320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7C3AED"/>
                </a:solidFill>
                <a:latin typeface="Arial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7312" y="2039112"/>
            <a:ext cx="277977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demo-ready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246120"/>
            <a:ext cx="5989320" cy="3246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3246120"/>
            <a:ext cx="59893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7592" y="3410712"/>
            <a:ext cx="56601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Создано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032504"/>
            <a:ext cx="5660136" cy="2404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каталог + заказы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CAD/SIM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лаборатория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обучение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expert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3246120"/>
            <a:ext cx="5715000" cy="3246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3246120"/>
            <a:ext cx="5715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3410712"/>
            <a:ext cx="53858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Проверено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1" y="4032504"/>
            <a:ext cx="5385816" cy="2404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22340"/>
                </a:solidFill>
                <a:latin typeface="Arial"/>
              </a:rPr>
              <a:t>? manage.py check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check_demo_ready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check_data_integrity</a:t>
            </a:r>
          </a:p>
          <a:p>
            <a:r>
              <a:rPr sz="2100" b="0">
                <a:solidFill>
                  <a:srgbClr val="122340"/>
                </a:solidFill>
                <a:latin typeface="Arial"/>
              </a:rPr>
              <a:t>? media quality 364/364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20/20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07008"/>
            <a:ext cx="8229600" cy="201168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8229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703320"/>
            <a:ext cx="8641080" cy="2606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703320"/>
            <a:ext cx="8641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4754880" cy="8229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5800" b="1">
                <a:solidFill>
                  <a:srgbClr val="0891B2"/>
                </a:solidFill>
                <a:latin typeface="Arial"/>
              </a:rPr>
              <a:t>DOLG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7680960" cy="8229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0000"/>
              </a:lnSpc>
            </a:pPr>
            <a:r>
              <a:rPr sz="2500" b="1">
                <a:solidFill>
                  <a:srgbClr val="0F172A"/>
                </a:solidFill>
                <a:latin typeface="Arial"/>
              </a:rPr>
              <a:t>каталог • CAD/SIM • лаборатория</a:t>
            </a:r>
          </a:p>
          <a:p>
            <a:pPr algn="l">
              <a:lnSpc>
                <a:spcPct val="90000"/>
              </a:lnSpc>
            </a:pPr>
            <a:r>
              <a:rPr sz="2500" b="1">
                <a:solidFill>
                  <a:srgbClr val="0F172A"/>
                </a:solidFill>
                <a:latin typeface="Arial"/>
              </a:rPr>
              <a:t>обучение •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4"/>
            <a:ext cx="8275320" cy="19202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Буряко Дмитрий Сергеевич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Научный руководитель: Буланов Сергей Георгиевич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Email: buryako@internet.com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Телефон: +7 (903) 439-44-87</a:t>
            </a:r>
          </a:p>
        </p:txBody>
      </p:sp>
      <p:pic>
        <p:nvPicPr>
          <p:cNvPr id="14" name="Picture 13" descr="01_hom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260" y="3520440"/>
            <a:ext cx="4196080" cy="2697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